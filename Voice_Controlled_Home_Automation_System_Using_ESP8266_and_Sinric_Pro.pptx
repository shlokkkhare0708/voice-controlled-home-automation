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the Voice Controlled Home Automation System. We've developed a system that integrates IoT for seamless appliance control. This project focuses on making smart living accessible and efficient for everyone. We'll demonstrate how our solution provides real-time control and monitoring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identified key challenges with traditional home appliance operation. Manual control is often difficult, especially for the elderly or disabled. This leads to energy waste and a lack of remote access. Our motivation is to solve these problems with a compact, low-cost IoT solution. We aim to enhance comfort and achieve significant energy savings. Next, we'll outline the specific goals we set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objectives are clear and focused. We aim to design a robust IoT system that connects appliances to the cloud. This enables seamless voice and mobile control. We're integrating with Google Home and Amazon Alexa for intuitive voice commands. Remote access is crucial, allowing control from anywhere via the Sinric Pro app. We also ensure real-time synchronization of device states across all interfaces. Finally, we prioritize cost-efficiency, using affordable hardware for a practical smart home solution. Now, let's look at the specific hardware components that make this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components are the foundation of our system. The NodeMCU ESP8266 serves as our Wi-Fi microcontroller, processing cloud commands. A 4-channel relay module acts as the electronic switch for high-voltage AC appliances. We're automating up to four household devices like bulbs or fans. A stable 5V DC power supply is essential for the NodeMCU and relay coils. Jumper wires and a breadboard complete the setup for secure electrical connections. These components work together within our system architecture, which we'll explore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architecture illustrates the operational flow. Voice assistants capture commands and send them to the cloud. The Sinric Pro Cloud acts as the central IoT bridge, managing device states. The NodeMCU ESP8266 functions as a WebSocket client, executing these commands. Finally, the relay module provides isolation and switches the appliances. This layered approach ensures reliable and secure communication from voice command to physical action. Next, we'll detail the step-by-step working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physical connections. Proper wiring is critical for system functionality and safety. We connect the NodeMCU's digital pins directly to the relay module's input pins. This allows the microcontroller to send low-voltage signals to control the high-voltage relays. We also ensure a common ground between the NodeMCU and the relay for stable operation. This setup isolates the sensitive microcontroller from the AC mains, which is a key safety feature. Next, we will see the complete circuit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full circuit diagram, integrating all components. It shows the NodeMCU, the relay module, and the AC loads like bulbs and fans. This comprehensive view illustrates how the low-voltage control circuit interfaces with the high-voltage power circuit. The diagram emphasizes the electrical isolation provided by the relay, which is essential for protecting the ESP8266. Now, let's delve into the system's operational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principle outlines the step-by-step process from voice command to physical action. When a user issues a voice command, the assistant processes it and sends it to the Sinric Pro cloud. Sinric Pro then transmits this command via WebSocket to our ESP8266. The ESP8266 receives this signal and activates the appropriate relay, switching the appliance. This entire sequence happens in near real-time, providing an immediate response to the user's command. This seamless interaction is crucial for a responsive smart home experience. Next, we will explore how the Sinric Pro dashboard integrates with this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Sinric Pro dashboard and app integration provide a crucial visual interface for monitoring and control. This table illustrates how voice commands and manual app toggles synchronize device states across the system. The system ensures real-time updates, with device status reflecting accurately on both the voice assistant and the mobile app. This synchronization is achieved through MQTT and WebSocket protocols, guaranteeing low latency and a consistent user experience. This integration allows for flexible control, whether through voice or touch. Next, we will discuss the advantages, applications, and future scope of this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system offers significant advantages, expanding beyond basic home automation. We're not just talking about convenience; we're enabling accessibility and efficiency. Our design provides hands-free control, which is crucial for many users, and it's energy-efficient through remote monitoring. The cost-effectiveness of using open-source platforms makes this solution widely accessible. We see applications in smart homes, of course, but also in hospitals for patient care and in offices for automated management. Looking ahead, we envision integrating AI for predictive automation and advanced energy analytics. This will move us toward truly intelligent environments. Now, let's summarize our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we've successfully developed a robust IoT-based voice-controlled home automation system. This project demonstrates the effective synergy between the ESP8266, Sinric Pro, and popular voice assistants. We've provided a practical, low-cost solution that enhances modern smart living and accessibility. This system establishes a scalable foundation for future smart home ecosystem expansions. We believe in 'Smart Homes for a Smarter Future.' Next, we'll show you the system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now ready for a live demonstration of our system. You'll see how simple voice commands translate into immediate actions. After the demonstration, we'll open the floor for any questions you might have. Thank you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7505" y="1170710"/>
            <a:ext cx="9068991" cy="709017"/>
          </a:xfrm>
          <a:prstGeom prst="rect">
            <a:avLst/>
          </a:prstGeom>
          <a:noFill/>
          <a:ln/>
        </p:spPr>
        <p:txBody>
          <a:bodyPr wrap="square" lIns="0" tIns="0" rIns="0" bIns="85090" rtlCol="0" anchor="t">
            <a:spAutoFit/>
          </a:bodyPr>
          <a:lstStyle/>
          <a:p>
            <a:pPr algn="ctr" indent="0" marL="0">
              <a:buNone/>
            </a:pPr>
            <a:r>
              <a:rPr lang="en-US" sz="3300" b="1" dirty="0">
                <a:solidFill>
                  <a:srgbClr val="FFFFFF"/>
                </a:solidFill>
                <a:latin typeface="Playfair Display Bold" pitchFamily="34" charset="0"/>
                <a:ea typeface="Playfair Display Bold" pitchFamily="34" charset="-122"/>
                <a:cs typeface="Playfair Display Bold" pitchFamily="34" charset="-120"/>
              </a:rPr>
              <a:t>Voice Controlled Home Automation System</a:t>
            </a:r>
            <a:endParaRPr lang="en-US" sz="3300" dirty="0"/>
          </a:p>
        </p:txBody>
      </p:sp>
      <p:sp>
        <p:nvSpPr>
          <p:cNvPr id="5" name="Text 1"/>
          <p:cNvSpPr/>
          <p:nvPr/>
        </p:nvSpPr>
        <p:spPr>
          <a:xfrm>
            <a:off x="7144" y="2222627"/>
            <a:ext cx="9129713" cy="255389"/>
          </a:xfrm>
          <a:prstGeom prst="rect">
            <a:avLst/>
          </a:prstGeom>
          <a:noFill/>
          <a:ln/>
        </p:spPr>
        <p:txBody>
          <a:bodyPr wrap="square" lIns="0" tIns="0" rIns="0" bIns="0" rtlCol="0" anchor="t">
            <a:spAutoFit/>
          </a:bodyPr>
          <a:lstStyle/>
          <a:p>
            <a:pPr algn="ctr" indent="0" marL="0">
              <a:buNone/>
            </a:pPr>
            <a:r>
              <a:rPr lang="en-US" sz="1500" spc="2" kern="0" dirty="0">
                <a:solidFill>
                  <a:srgbClr val="64FFDA"/>
                </a:solidFill>
                <a:latin typeface="Space Grotesk Medium" pitchFamily="34" charset="0"/>
                <a:ea typeface="Space Grotesk Medium" pitchFamily="34" charset="-122"/>
                <a:cs typeface="Space Grotesk Medium" pitchFamily="34" charset="-120"/>
              </a:rPr>
              <a:t>REAL-TIME IOT-BASED APPLIANCE CONTROL AND MONITORING</a:t>
            </a:r>
            <a:endParaRPr lang="en-US" sz="1500" dirty="0"/>
          </a:p>
        </p:txBody>
      </p:sp>
      <p:sp>
        <p:nvSpPr>
          <p:cNvPr id="6" name="Shape 2"/>
          <p:cNvSpPr/>
          <p:nvPr/>
        </p:nvSpPr>
        <p:spPr>
          <a:xfrm>
            <a:off x="435769" y="3389709"/>
            <a:ext cx="2643188" cy="1460897"/>
          </a:xfrm>
          <a:prstGeom prst="rect">
            <a:avLst/>
          </a:prstGeom>
          <a:solidFill>
            <a:srgbClr val="172A45"/>
          </a:solidFill>
          <a:ln/>
        </p:spPr>
      </p:sp>
      <p:sp>
        <p:nvSpPr>
          <p:cNvPr id="7" name="Shape 3"/>
          <p:cNvSpPr/>
          <p:nvPr/>
        </p:nvSpPr>
        <p:spPr>
          <a:xfrm>
            <a:off x="435769" y="3389709"/>
            <a:ext cx="28575" cy="1460897"/>
          </a:xfrm>
          <a:prstGeom prst="rect">
            <a:avLst/>
          </a:prstGeom>
          <a:solidFill>
            <a:srgbClr val="64FFDA"/>
          </a:solidFill>
          <a:ln/>
        </p:spPr>
      </p:sp>
      <p:sp>
        <p:nvSpPr>
          <p:cNvPr id="8" name="Text 4"/>
          <p:cNvSpPr/>
          <p:nvPr/>
        </p:nvSpPr>
        <p:spPr>
          <a:xfrm>
            <a:off x="521494" y="3475434"/>
            <a:ext cx="2471738" cy="146447"/>
          </a:xfrm>
          <a:prstGeom prst="rect">
            <a:avLst/>
          </a:prstGeom>
          <a:noFill/>
          <a:ln/>
        </p:spPr>
        <p:txBody>
          <a:bodyPr wrap="square" lIns="0" tIns="0" rIns="0" bIns="0" rtlCol="0" anchor="t">
            <a:spAutoFit/>
          </a:bodyPr>
          <a:lstStyle/>
          <a:p>
            <a:pPr algn="l" indent="0" marL="0">
              <a:buNone/>
            </a:pPr>
            <a:r>
              <a:rPr lang="en-US" sz="850" dirty="0">
                <a:solidFill>
                  <a:srgbClr val="64FFDA"/>
                </a:solidFill>
                <a:latin typeface="Space Grotesk Medium" pitchFamily="34" charset="0"/>
                <a:ea typeface="Space Grotesk Medium" pitchFamily="34" charset="-122"/>
                <a:cs typeface="Space Grotesk Medium" pitchFamily="34" charset="-120"/>
              </a:rPr>
              <a:t>TEAM MEMBERS</a:t>
            </a:r>
            <a:endParaRPr lang="en-US" sz="850" dirty="0"/>
          </a:p>
        </p:txBody>
      </p:sp>
      <p:sp>
        <p:nvSpPr>
          <p:cNvPr id="9" name="Text 5"/>
          <p:cNvSpPr/>
          <p:nvPr/>
        </p:nvSpPr>
        <p:spPr>
          <a:xfrm>
            <a:off x="521494" y="3764756"/>
            <a:ext cx="2471738" cy="857250"/>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FFFFFF"/>
                </a:solidFill>
                <a:latin typeface="Inter" pitchFamily="34" charset="0"/>
                <a:ea typeface="Inter" pitchFamily="34" charset="-122"/>
                <a:cs typeface="Inter" pitchFamily="34" charset="-120"/>
              </a:rPr>
              <a:t>Shlok Khare</a:t>
            </a:r>
            <a:r>
              <a:rPr lang="en-US" sz="1050" dirty="0">
                <a:solidFill>
                  <a:srgbClr val="FFFFFF"/>
                </a:solidFill>
                <a:latin typeface="Inter" pitchFamily="34" charset="0"/>
                <a:ea typeface="Inter" pitchFamily="34" charset="-122"/>
                <a:cs typeface="Inter" pitchFamily="34" charset="-120"/>
              </a:rPr>
              <a:t>
</a:t>
            </a:r>
            <a:r>
              <a:rPr lang="en-US" sz="1050" dirty="0">
                <a:solidFill>
                  <a:srgbClr val="FFFFFF"/>
                </a:solidFill>
                <a:latin typeface="Inter" pitchFamily="34" charset="0"/>
                <a:ea typeface="Inter" pitchFamily="34" charset="-122"/>
                <a:cs typeface="Inter" pitchFamily="34" charset="-120"/>
              </a:rPr>
              <a:t>Ojash Chaudhary </a:t>
            </a:r>
            <a:r>
              <a:rPr lang="en-US" sz="1050" dirty="0">
                <a:solidFill>
                  <a:srgbClr val="FFFFFF"/>
                </a:solidFill>
                <a:latin typeface="Inter" pitchFamily="34" charset="0"/>
                <a:ea typeface="Inter" pitchFamily="34" charset="-122"/>
                <a:cs typeface="Inter" pitchFamily="34" charset="-120"/>
              </a:rPr>
              <a:t>
</a:t>
            </a:r>
            <a:r>
              <a:rPr lang="en-US" sz="1050" dirty="0">
                <a:solidFill>
                  <a:srgbClr val="FFFFFF"/>
                </a:solidFill>
                <a:latin typeface="Inter" pitchFamily="34" charset="0"/>
                <a:ea typeface="Inter" pitchFamily="34" charset="-122"/>
                <a:cs typeface="Inter" pitchFamily="34" charset="-120"/>
              </a:rPr>
              <a:t>Raj Vardhan Srivastava</a:t>
            </a:r>
            <a:r>
              <a:rPr lang="en-US" sz="1050" dirty="0">
                <a:solidFill>
                  <a:srgbClr val="FFFFFF"/>
                </a:solidFill>
                <a:latin typeface="Inter" pitchFamily="34" charset="0"/>
                <a:ea typeface="Inter" pitchFamily="34" charset="-122"/>
                <a:cs typeface="Inter" pitchFamily="34" charset="-120"/>
              </a:rPr>
              <a:t>
</a:t>
            </a:r>
            <a:r>
              <a:rPr lang="en-US" sz="1050" dirty="0">
                <a:solidFill>
                  <a:srgbClr val="FFFFFF"/>
                </a:solidFill>
                <a:latin typeface="Inter" pitchFamily="34" charset="0"/>
                <a:ea typeface="Inter" pitchFamily="34" charset="-122"/>
                <a:cs typeface="Inter" pitchFamily="34" charset="-120"/>
              </a:rPr>
              <a:t>Krishna Kushwaha</a:t>
            </a:r>
            <a:endParaRPr lang="en-US" sz="1050" dirty="0"/>
          </a:p>
        </p:txBody>
      </p:sp>
      <p:sp>
        <p:nvSpPr>
          <p:cNvPr id="10" name="Shape 6"/>
          <p:cNvSpPr/>
          <p:nvPr/>
        </p:nvSpPr>
        <p:spPr>
          <a:xfrm>
            <a:off x="3250406" y="3389709"/>
            <a:ext cx="2643188" cy="1460897"/>
          </a:xfrm>
          <a:prstGeom prst="rect">
            <a:avLst/>
          </a:prstGeom>
          <a:solidFill>
            <a:srgbClr val="172A45"/>
          </a:solidFill>
          <a:ln/>
        </p:spPr>
      </p:sp>
      <p:sp>
        <p:nvSpPr>
          <p:cNvPr id="11" name="Shape 7"/>
          <p:cNvSpPr/>
          <p:nvPr/>
        </p:nvSpPr>
        <p:spPr>
          <a:xfrm>
            <a:off x="3250406" y="3389709"/>
            <a:ext cx="28575" cy="1460897"/>
          </a:xfrm>
          <a:prstGeom prst="rect">
            <a:avLst/>
          </a:prstGeom>
          <a:solidFill>
            <a:srgbClr val="64FFDA"/>
          </a:solidFill>
          <a:ln/>
        </p:spPr>
      </p:sp>
      <p:sp>
        <p:nvSpPr>
          <p:cNvPr id="12" name="Text 8"/>
          <p:cNvSpPr/>
          <p:nvPr/>
        </p:nvSpPr>
        <p:spPr>
          <a:xfrm>
            <a:off x="3336131" y="3475434"/>
            <a:ext cx="2471738" cy="146447"/>
          </a:xfrm>
          <a:prstGeom prst="rect">
            <a:avLst/>
          </a:prstGeom>
          <a:noFill/>
          <a:ln/>
        </p:spPr>
        <p:txBody>
          <a:bodyPr wrap="square" lIns="0" tIns="0" rIns="0" bIns="0" rtlCol="0" anchor="t">
            <a:spAutoFit/>
          </a:bodyPr>
          <a:lstStyle/>
          <a:p>
            <a:pPr algn="l" indent="0" marL="0">
              <a:buNone/>
            </a:pPr>
            <a:r>
              <a:rPr lang="en-US" sz="850" dirty="0">
                <a:solidFill>
                  <a:srgbClr val="64FFDA"/>
                </a:solidFill>
                <a:latin typeface="Space Grotesk Medium" pitchFamily="34" charset="0"/>
                <a:ea typeface="Space Grotesk Medium" pitchFamily="34" charset="-122"/>
                <a:cs typeface="Space Grotesk Medium" pitchFamily="34" charset="-120"/>
              </a:rPr>
              <a:t>SRMCEM</a:t>
            </a:r>
            <a:endParaRPr lang="en-US" sz="850" dirty="0"/>
          </a:p>
        </p:txBody>
      </p:sp>
      <p:sp>
        <p:nvSpPr>
          <p:cNvPr id="13" name="Text 9"/>
          <p:cNvSpPr/>
          <p:nvPr/>
        </p:nvSpPr>
        <p:spPr>
          <a:xfrm>
            <a:off x="3336131" y="3764756"/>
            <a:ext cx="2471738"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FFFFFF"/>
                </a:solidFill>
                <a:latin typeface="Inter" pitchFamily="34" charset="0"/>
                <a:ea typeface="Inter" pitchFamily="34" charset="-122"/>
                <a:cs typeface="Inter" pitchFamily="34" charset="-120"/>
              </a:rPr>
              <a:t>Department Of</a:t>
            </a:r>
            <a:r>
              <a:rPr lang="en-US" sz="1050" dirty="0">
                <a:solidFill>
                  <a:srgbClr val="FFFFFF"/>
                </a:solidFill>
                <a:latin typeface="Inter" pitchFamily="34" charset="0"/>
                <a:ea typeface="Inter" pitchFamily="34" charset="-122"/>
                <a:cs typeface="Inter" pitchFamily="34" charset="-120"/>
              </a:rPr>
              <a:t>
</a:t>
            </a:r>
            <a:r>
              <a:rPr lang="en-US" sz="1050" dirty="0">
                <a:solidFill>
                  <a:srgbClr val="FFFFFF"/>
                </a:solidFill>
                <a:latin typeface="Inter" pitchFamily="34" charset="0"/>
                <a:ea typeface="Inter" pitchFamily="34" charset="-122"/>
                <a:cs typeface="Inter" pitchFamily="34" charset="-120"/>
              </a:rPr>
              <a:t>Computer Science(IoT)</a:t>
            </a:r>
            <a:endParaRPr lang="en-US" sz="1050" dirty="0"/>
          </a:p>
        </p:txBody>
      </p:sp>
      <p:sp>
        <p:nvSpPr>
          <p:cNvPr id="14" name="Shape 10"/>
          <p:cNvSpPr/>
          <p:nvPr/>
        </p:nvSpPr>
        <p:spPr>
          <a:xfrm>
            <a:off x="6065044" y="3389709"/>
            <a:ext cx="2643188" cy="1460897"/>
          </a:xfrm>
          <a:prstGeom prst="rect">
            <a:avLst/>
          </a:prstGeom>
          <a:solidFill>
            <a:srgbClr val="172A45"/>
          </a:solidFill>
          <a:ln/>
        </p:spPr>
      </p:sp>
      <p:sp>
        <p:nvSpPr>
          <p:cNvPr id="15" name="Shape 11"/>
          <p:cNvSpPr/>
          <p:nvPr/>
        </p:nvSpPr>
        <p:spPr>
          <a:xfrm>
            <a:off x="6065044" y="3389709"/>
            <a:ext cx="28575" cy="1460897"/>
          </a:xfrm>
          <a:prstGeom prst="rect">
            <a:avLst/>
          </a:prstGeom>
          <a:solidFill>
            <a:srgbClr val="64FFDA"/>
          </a:solidFill>
          <a:ln/>
        </p:spPr>
      </p:sp>
      <p:sp>
        <p:nvSpPr>
          <p:cNvPr id="16" name="Text 12"/>
          <p:cNvSpPr/>
          <p:nvPr/>
        </p:nvSpPr>
        <p:spPr>
          <a:xfrm>
            <a:off x="6150769" y="3475434"/>
            <a:ext cx="2471738" cy="146447"/>
          </a:xfrm>
          <a:prstGeom prst="rect">
            <a:avLst/>
          </a:prstGeom>
          <a:noFill/>
          <a:ln/>
        </p:spPr>
        <p:txBody>
          <a:bodyPr wrap="square" lIns="0" tIns="0" rIns="0" bIns="0" rtlCol="0" anchor="t">
            <a:spAutoFit/>
          </a:bodyPr>
          <a:lstStyle/>
          <a:p>
            <a:pPr algn="l" indent="0" marL="0">
              <a:buNone/>
            </a:pPr>
            <a:r>
              <a:rPr lang="en-US" sz="850" dirty="0">
                <a:solidFill>
                  <a:srgbClr val="64FFDA"/>
                </a:solidFill>
                <a:latin typeface="Space Grotesk Medium" pitchFamily="34" charset="0"/>
                <a:ea typeface="Space Grotesk Medium" pitchFamily="34" charset="-122"/>
                <a:cs typeface="Space Grotesk Medium" pitchFamily="34" charset="-120"/>
              </a:rPr>
              <a:t>GUIDE</a:t>
            </a:r>
            <a:endParaRPr lang="en-US" sz="850" dirty="0"/>
          </a:p>
        </p:txBody>
      </p:sp>
      <p:sp>
        <p:nvSpPr>
          <p:cNvPr id="17" name="Text 13"/>
          <p:cNvSpPr/>
          <p:nvPr/>
        </p:nvSpPr>
        <p:spPr>
          <a:xfrm>
            <a:off x="6150769" y="3764756"/>
            <a:ext cx="2471738" cy="214313"/>
          </a:xfrm>
          <a:prstGeom prst="rect">
            <a:avLst/>
          </a:prstGeom>
          <a:noFill/>
          <a:ln/>
        </p:spPr>
        <p:txBody>
          <a:bodyPr wrap="none" lIns="0" tIns="0" rIns="0" bIns="0" rtlCol="0" anchor="t">
            <a:spAutoFit/>
          </a:bodyPr>
          <a:lstStyle/>
          <a:p>
            <a:pPr algn="l" indent="0" marL="0">
              <a:lnSpc>
                <a:spcPct val="120000"/>
              </a:lnSpc>
              <a:buNone/>
            </a:pPr>
            <a:r>
              <a:rPr lang="en-US" sz="1050" dirty="0">
                <a:solidFill>
                  <a:srgbClr val="FFFFFF"/>
                </a:solidFill>
                <a:latin typeface="Inter" pitchFamily="34" charset="0"/>
                <a:ea typeface="Inter" pitchFamily="34" charset="-122"/>
                <a:cs typeface="Inter" pitchFamily="34" charset="-120"/>
              </a:rPr>
              <a:t>Er. Atul Tiwari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50839"/>
          </a:xfrm>
          <a:prstGeom prst="rect">
            <a:avLst/>
          </a:prstGeom>
        </p:spPr>
      </p:pic>
      <p:sp>
        <p:nvSpPr>
          <p:cNvPr id="4" name="Text 0"/>
          <p:cNvSpPr/>
          <p:nvPr/>
        </p:nvSpPr>
        <p:spPr>
          <a:xfrm>
            <a:off x="635794" y="634650"/>
            <a:ext cx="5213152"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Problem Statement &amp; Motivation</a:t>
            </a:r>
            <a:endParaRPr lang="en-US" sz="2450" dirty="0"/>
          </a:p>
        </p:txBody>
      </p:sp>
      <p:sp>
        <p:nvSpPr>
          <p:cNvPr id="5" name="Text 1"/>
          <p:cNvSpPr/>
          <p:nvPr/>
        </p:nvSpPr>
        <p:spPr>
          <a:xfrm>
            <a:off x="492919" y="1812224"/>
            <a:ext cx="3993356" cy="291108"/>
          </a:xfrm>
          <a:prstGeom prst="rect">
            <a:avLst/>
          </a:prstGeom>
          <a:noFill/>
          <a:ln/>
        </p:spPr>
        <p:txBody>
          <a:bodyPr wrap="square" lIns="0" tIns="0" rIns="0" bIns="0" rtlCol="0" anchor="t">
            <a:spAutoFit/>
          </a:bodyPr>
          <a:lstStyle/>
          <a:p>
            <a:pPr algn="l" indent="0" marL="0">
              <a:buNone/>
            </a:pPr>
            <a:r>
              <a:rPr lang="en-US" sz="1600" b="1" spc="1" kern="0" dirty="0">
                <a:solidFill>
                  <a:srgbClr val="64FFDA"/>
                </a:solidFill>
                <a:latin typeface="Space Grotesk Medium" pitchFamily="34" charset="0"/>
                <a:ea typeface="Space Grotesk Medium" pitchFamily="34" charset="-122"/>
                <a:cs typeface="Space Grotesk Medium" pitchFamily="34" charset="-120"/>
              </a:rPr>
              <a:t>PROBLEM STATEMENT</a:t>
            </a:r>
            <a:endParaRPr lang="en-US" sz="1600" dirty="0"/>
          </a:p>
        </p:txBody>
      </p:sp>
      <p:sp>
        <p:nvSpPr>
          <p:cNvPr id="6" name="Text 2"/>
          <p:cNvSpPr/>
          <p:nvPr/>
        </p:nvSpPr>
        <p:spPr>
          <a:xfrm>
            <a:off x="492919" y="2160482"/>
            <a:ext cx="94934" cy="251454"/>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64FFDA"/>
                </a:solidFill>
                <a:latin typeface="Inter" pitchFamily="34" charset="0"/>
                <a:ea typeface="Inter" pitchFamily="34" charset="-122"/>
                <a:cs typeface="Inter" pitchFamily="34" charset="-120"/>
              </a:rPr>
              <a:t>●</a:t>
            </a:r>
            <a:endParaRPr lang="en-US" sz="1150" dirty="0"/>
          </a:p>
        </p:txBody>
      </p:sp>
      <p:sp>
        <p:nvSpPr>
          <p:cNvPr id="7" name="Text 3"/>
          <p:cNvSpPr/>
          <p:nvPr/>
        </p:nvSpPr>
        <p:spPr>
          <a:xfrm>
            <a:off x="673577" y="2160482"/>
            <a:ext cx="3812698" cy="502909"/>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FFFFFF"/>
                </a:solidFill>
                <a:latin typeface="Inter" pitchFamily="34" charset="0"/>
                <a:ea typeface="Inter" pitchFamily="34" charset="-122"/>
                <a:cs typeface="Inter" pitchFamily="34" charset="-120"/>
              </a:rPr>
              <a:t>Manual appliance operation is difficult for elderly and disabled individuals.</a:t>
            </a:r>
            <a:endParaRPr lang="en-US" sz="1150" dirty="0"/>
          </a:p>
        </p:txBody>
      </p:sp>
      <p:sp>
        <p:nvSpPr>
          <p:cNvPr id="8" name="Text 4"/>
          <p:cNvSpPr/>
          <p:nvPr/>
        </p:nvSpPr>
        <p:spPr>
          <a:xfrm>
            <a:off x="492919" y="2706253"/>
            <a:ext cx="94934" cy="251454"/>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64FFDA"/>
                </a:solidFill>
                <a:latin typeface="Inter" pitchFamily="34" charset="0"/>
                <a:ea typeface="Inter" pitchFamily="34" charset="-122"/>
                <a:cs typeface="Inter" pitchFamily="34" charset="-120"/>
              </a:rPr>
              <a:t>●</a:t>
            </a:r>
            <a:endParaRPr lang="en-US" sz="1150" dirty="0"/>
          </a:p>
        </p:txBody>
      </p:sp>
      <p:sp>
        <p:nvSpPr>
          <p:cNvPr id="9" name="Text 5"/>
          <p:cNvSpPr/>
          <p:nvPr/>
        </p:nvSpPr>
        <p:spPr>
          <a:xfrm>
            <a:off x="673577" y="2706253"/>
            <a:ext cx="3812698" cy="502909"/>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FFFFFF"/>
                </a:solidFill>
                <a:latin typeface="Inter" pitchFamily="34" charset="0"/>
                <a:ea typeface="Inter" pitchFamily="34" charset="-122"/>
                <a:cs typeface="Inter" pitchFamily="34" charset="-120"/>
              </a:rPr>
              <a:t>High energy wastage due to appliances being left on unintentionally.</a:t>
            </a:r>
            <a:endParaRPr lang="en-US" sz="1150" dirty="0"/>
          </a:p>
        </p:txBody>
      </p:sp>
      <p:sp>
        <p:nvSpPr>
          <p:cNvPr id="10" name="Text 6"/>
          <p:cNvSpPr/>
          <p:nvPr/>
        </p:nvSpPr>
        <p:spPr>
          <a:xfrm>
            <a:off x="492919" y="3252025"/>
            <a:ext cx="94934" cy="251454"/>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64FFDA"/>
                </a:solidFill>
                <a:latin typeface="Inter" pitchFamily="34" charset="0"/>
                <a:ea typeface="Inter" pitchFamily="34" charset="-122"/>
                <a:cs typeface="Inter" pitchFamily="34" charset="-120"/>
              </a:rPr>
              <a:t>●</a:t>
            </a:r>
            <a:endParaRPr lang="en-US" sz="1150" dirty="0"/>
          </a:p>
        </p:txBody>
      </p:sp>
      <p:sp>
        <p:nvSpPr>
          <p:cNvPr id="11" name="Text 7"/>
          <p:cNvSpPr/>
          <p:nvPr/>
        </p:nvSpPr>
        <p:spPr>
          <a:xfrm>
            <a:off x="673577" y="3252025"/>
            <a:ext cx="3812698" cy="502909"/>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FFFFFF"/>
                </a:solidFill>
                <a:latin typeface="Inter" pitchFamily="34" charset="0"/>
                <a:ea typeface="Inter" pitchFamily="34" charset="-122"/>
                <a:cs typeface="Inter" pitchFamily="34" charset="-120"/>
              </a:rPr>
              <a:t>Lack of remote accessibility and real-time status monitoring.</a:t>
            </a:r>
            <a:endParaRPr lang="en-US" sz="1150" dirty="0"/>
          </a:p>
        </p:txBody>
      </p:sp>
      <p:sp>
        <p:nvSpPr>
          <p:cNvPr id="12" name="Shape 8"/>
          <p:cNvSpPr/>
          <p:nvPr/>
        </p:nvSpPr>
        <p:spPr>
          <a:xfrm>
            <a:off x="4772025" y="1583624"/>
            <a:ext cx="3993356" cy="1885950"/>
          </a:xfrm>
          <a:prstGeom prst="rect">
            <a:avLst/>
          </a:prstGeom>
          <a:solidFill>
            <a:srgbClr val="172A45"/>
          </a:solidFill>
          <a:ln/>
        </p:spPr>
      </p:sp>
      <p:sp>
        <p:nvSpPr>
          <p:cNvPr id="13" name="Text 9"/>
          <p:cNvSpPr/>
          <p:nvPr/>
        </p:nvSpPr>
        <p:spPr>
          <a:xfrm>
            <a:off x="4886325" y="2183699"/>
            <a:ext cx="3764756" cy="685800"/>
          </a:xfrm>
          <a:prstGeom prst="rect">
            <a:avLst/>
          </a:prstGeom>
          <a:noFill/>
          <a:ln/>
        </p:spPr>
        <p:txBody>
          <a:bodyPr wrap="square" lIns="0" tIns="0" rIns="0" bIns="0" rtlCol="0" anchor="t">
            <a:spAutoFit/>
          </a:bodyPr>
          <a:lstStyle/>
          <a:p>
            <a:pPr algn="ctr" indent="0" marL="0">
              <a:buNone/>
            </a:pPr>
            <a:r>
              <a:rPr lang="en-US" sz="1900" dirty="0">
                <a:solidFill>
                  <a:srgbClr val="64FFDA">
                    <a:alpha val="80000"/>
                  </a:srgbClr>
                </a:solidFill>
                <a:latin typeface="Playfair Display Bold" pitchFamily="34" charset="0"/>
                <a:ea typeface="Playfair Display Bold" pitchFamily="34" charset="-122"/>
                <a:cs typeface="Playfair Display Bold" pitchFamily="34" charset="-120"/>
              </a:rPr>
              <a:t>Empowering Smart Living Through IoT Connectivity</a:t>
            </a:r>
            <a:endParaRPr lang="en-US" sz="1900" dirty="0"/>
          </a:p>
        </p:txBody>
      </p:sp>
      <p:sp>
        <p:nvSpPr>
          <p:cNvPr id="14" name="Text 10"/>
          <p:cNvSpPr/>
          <p:nvPr/>
        </p:nvSpPr>
        <p:spPr>
          <a:xfrm>
            <a:off x="4772025" y="3698174"/>
            <a:ext cx="3993356" cy="291108"/>
          </a:xfrm>
          <a:prstGeom prst="rect">
            <a:avLst/>
          </a:prstGeom>
          <a:noFill/>
          <a:ln/>
        </p:spPr>
        <p:txBody>
          <a:bodyPr wrap="square" lIns="0" tIns="0" rIns="0" bIns="0" rtlCol="0" anchor="t">
            <a:spAutoFit/>
          </a:bodyPr>
          <a:lstStyle/>
          <a:p>
            <a:pPr algn="l" indent="0" marL="0">
              <a:buNone/>
            </a:pPr>
            <a:r>
              <a:rPr lang="en-US" sz="1600" b="1" spc="1" kern="0" dirty="0">
                <a:solidFill>
                  <a:srgbClr val="64FFDA"/>
                </a:solidFill>
                <a:latin typeface="Space Grotesk Medium" pitchFamily="34" charset="0"/>
                <a:ea typeface="Space Grotesk Medium" pitchFamily="34" charset="-122"/>
                <a:cs typeface="Space Grotesk Medium" pitchFamily="34" charset="-120"/>
              </a:rPr>
              <a:t>MOTIVATION</a:t>
            </a:r>
            <a:endParaRPr lang="en-US" sz="1600" dirty="0"/>
          </a:p>
        </p:txBody>
      </p:sp>
      <p:sp>
        <p:nvSpPr>
          <p:cNvPr id="15" name="Shape 11"/>
          <p:cNvSpPr/>
          <p:nvPr/>
        </p:nvSpPr>
        <p:spPr>
          <a:xfrm>
            <a:off x="4772025" y="4146445"/>
            <a:ext cx="3993356" cy="897238"/>
          </a:xfrm>
          <a:prstGeom prst="rect">
            <a:avLst/>
          </a:prstGeom>
          <a:solidFill>
            <a:srgbClr val="172A45"/>
          </a:solidFill>
          <a:ln/>
        </p:spPr>
      </p:sp>
      <p:sp>
        <p:nvSpPr>
          <p:cNvPr id="16" name="Shape 12"/>
          <p:cNvSpPr/>
          <p:nvPr/>
        </p:nvSpPr>
        <p:spPr>
          <a:xfrm>
            <a:off x="4772025" y="4146445"/>
            <a:ext cx="28575" cy="897238"/>
          </a:xfrm>
          <a:prstGeom prst="rect">
            <a:avLst/>
          </a:prstGeom>
          <a:solidFill>
            <a:srgbClr val="64FFDA"/>
          </a:solidFill>
          <a:ln/>
        </p:spPr>
      </p:sp>
      <p:sp>
        <p:nvSpPr>
          <p:cNvPr id="17" name="Text 13"/>
          <p:cNvSpPr/>
          <p:nvPr/>
        </p:nvSpPr>
        <p:spPr>
          <a:xfrm>
            <a:off x="4772025" y="4146445"/>
            <a:ext cx="3993356" cy="897238"/>
          </a:xfrm>
          <a:prstGeom prst="rect">
            <a:avLst/>
          </a:prstGeom>
          <a:noFill/>
          <a:ln/>
        </p:spPr>
        <p:txBody>
          <a:bodyPr wrap="square" lIns="136017" tIns="85090" rIns="136017" bIns="85090" rtlCol="0" anchor="t">
            <a:spAutoFit/>
          </a:bodyPr>
          <a:lstStyle/>
          <a:p>
            <a:pPr algn="l" indent="0" marL="0">
              <a:lnSpc>
                <a:spcPct val="128000"/>
              </a:lnSpc>
              <a:buNone/>
            </a:pPr>
            <a:r>
              <a:rPr lang="en-US" sz="1150" dirty="0">
                <a:solidFill>
                  <a:srgbClr val="E6F1FF"/>
                </a:solidFill>
                <a:latin typeface="Inter" pitchFamily="34" charset="0"/>
                <a:ea typeface="Inter" pitchFamily="34" charset="-122"/>
                <a:cs typeface="Inter" pitchFamily="34" charset="-120"/>
              </a:rPr>
              <a:t>Provide a compact, low-cost IoT solution enabling voice and mobile control for comfort and energy savings.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577500"/>
            <a:ext cx="2859286"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Project Objectives</a:t>
            </a:r>
            <a:endParaRPr lang="en-US" sz="2450" dirty="0"/>
          </a:p>
        </p:txBody>
      </p:sp>
      <p:pic>
        <p:nvPicPr>
          <p:cNvPr id="5" name="Image 1" descr="preencoded.png">    </p:cNvPr>
          <p:cNvPicPr>
            <a:picLocks noChangeAspect="1"/>
          </p:cNvPicPr>
          <p:nvPr/>
        </p:nvPicPr>
        <p:blipFill>
          <a:blip r:embed="rId2"/>
          <a:stretch>
            <a:fillRect/>
          </a:stretch>
        </p:blipFill>
        <p:spPr>
          <a:xfrm>
            <a:off x="1122992" y="1620013"/>
            <a:ext cx="3600450" cy="1600200"/>
          </a:xfrm>
          <a:prstGeom prst="rect">
            <a:avLst/>
          </a:prstGeom>
        </p:spPr>
      </p:pic>
      <p:sp>
        <p:nvSpPr>
          <p:cNvPr id="6" name="Text 1"/>
          <p:cNvSpPr/>
          <p:nvPr/>
        </p:nvSpPr>
        <p:spPr>
          <a:xfrm>
            <a:off x="578644" y="3348800"/>
            <a:ext cx="4689146" cy="428625"/>
          </a:xfrm>
          <a:prstGeom prst="rect">
            <a:avLst/>
          </a:prstGeom>
          <a:noFill/>
          <a:ln/>
        </p:spPr>
        <p:txBody>
          <a:bodyPr wrap="square" lIns="0" tIns="0" rIns="0" bIns="0" rtlCol="0" anchor="t">
            <a:spAutoFit/>
          </a:bodyPr>
          <a:lstStyle/>
          <a:p>
            <a:pPr algn="ctr" indent="0" marL="0">
              <a:lnSpc>
                <a:spcPct val="120000"/>
              </a:lnSpc>
              <a:buNone/>
            </a:pPr>
            <a:r>
              <a:rPr lang="en-US" sz="1050" dirty="0">
                <a:solidFill>
                  <a:srgbClr val="E6F1FF"/>
                </a:solidFill>
                <a:latin typeface="Inter" pitchFamily="34" charset="0"/>
                <a:ea typeface="Inter" pitchFamily="34" charset="-122"/>
                <a:cs typeface="Inter" pitchFamily="34" charset="-120"/>
              </a:rPr>
              <a:t>Design and implement a robust IoT system connecting appliances to the cloud for seamless voice and mobile control.</a:t>
            </a:r>
            <a:endParaRPr lang="en-US" sz="1050" dirty="0"/>
          </a:p>
        </p:txBody>
      </p:sp>
      <p:sp>
        <p:nvSpPr>
          <p:cNvPr id="7" name="Shape 2"/>
          <p:cNvSpPr/>
          <p:nvPr/>
        </p:nvSpPr>
        <p:spPr>
          <a:xfrm>
            <a:off x="5439240" y="1540762"/>
            <a:ext cx="1520196" cy="1186532"/>
          </a:xfrm>
          <a:prstGeom prst="rect">
            <a:avLst/>
          </a:prstGeom>
          <a:solidFill>
            <a:srgbClr val="172A45"/>
          </a:solidFill>
          <a:ln/>
        </p:spPr>
      </p:sp>
      <p:sp>
        <p:nvSpPr>
          <p:cNvPr id="8" name="Shape 3"/>
          <p:cNvSpPr/>
          <p:nvPr/>
        </p:nvSpPr>
        <p:spPr>
          <a:xfrm>
            <a:off x="5439240" y="1540762"/>
            <a:ext cx="28575" cy="1186532"/>
          </a:xfrm>
          <a:prstGeom prst="rect">
            <a:avLst/>
          </a:prstGeom>
          <a:solidFill>
            <a:srgbClr val="64FFDA"/>
          </a:solidFill>
          <a:ln/>
        </p:spPr>
      </p:sp>
      <p:sp>
        <p:nvSpPr>
          <p:cNvPr id="9" name="Text 4"/>
          <p:cNvSpPr/>
          <p:nvPr/>
        </p:nvSpPr>
        <p:spPr>
          <a:xfrm>
            <a:off x="5582115" y="1597912"/>
            <a:ext cx="1234446" cy="403622"/>
          </a:xfrm>
          <a:prstGeom prst="rect">
            <a:avLst/>
          </a:prstGeom>
          <a:noFill/>
          <a:ln/>
        </p:spPr>
        <p:txBody>
          <a:bodyPr wrap="none" lIns="0" tIns="0" rIns="0" bIns="0" rtlCol="0" anchor="t">
            <a:spAutoFit/>
          </a:bodyPr>
          <a:lstStyle/>
          <a:p>
            <a:pPr algn="l" indent="0" marL="0">
              <a:buNone/>
            </a:pPr>
            <a:r>
              <a:rPr lang="en-US" sz="1100" b="1" dirty="0">
                <a:solidFill>
                  <a:srgbClr val="64FFDA"/>
                </a:solidFill>
                <a:latin typeface="Space Grotesk Medium" pitchFamily="34" charset="0"/>
                <a:ea typeface="Space Grotesk Medium" pitchFamily="34" charset="-122"/>
                <a:cs typeface="Space Grotesk Medium" pitchFamily="34" charset="-120"/>
              </a:rPr>
              <a:t>VOICE INTEGRATION</a:t>
            </a:r>
            <a:endParaRPr lang="en-US" sz="1100" dirty="0"/>
          </a:p>
        </p:txBody>
      </p:sp>
      <p:sp>
        <p:nvSpPr>
          <p:cNvPr id="10" name="Text 5"/>
          <p:cNvSpPr/>
          <p:nvPr/>
        </p:nvSpPr>
        <p:spPr>
          <a:xfrm>
            <a:off x="5582115" y="2030109"/>
            <a:ext cx="1234446" cy="640035"/>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E6F1FF"/>
                </a:solidFill>
                <a:latin typeface="Inter" pitchFamily="34" charset="0"/>
                <a:ea typeface="Inter" pitchFamily="34" charset="-122"/>
                <a:cs typeface="Inter" pitchFamily="34" charset="-120"/>
              </a:rPr>
              <a:t>Seamless control via Google Home and Amazon Alexa assistants.</a:t>
            </a:r>
            <a:endParaRPr lang="en-US" sz="850" dirty="0"/>
          </a:p>
        </p:txBody>
      </p:sp>
      <p:sp>
        <p:nvSpPr>
          <p:cNvPr id="11" name="Shape 6"/>
          <p:cNvSpPr/>
          <p:nvPr/>
        </p:nvSpPr>
        <p:spPr>
          <a:xfrm>
            <a:off x="7045161" y="1540762"/>
            <a:ext cx="1520196" cy="1186532"/>
          </a:xfrm>
          <a:prstGeom prst="rect">
            <a:avLst/>
          </a:prstGeom>
          <a:solidFill>
            <a:srgbClr val="172A45"/>
          </a:solidFill>
          <a:ln/>
        </p:spPr>
      </p:sp>
      <p:sp>
        <p:nvSpPr>
          <p:cNvPr id="12" name="Shape 7"/>
          <p:cNvSpPr/>
          <p:nvPr/>
        </p:nvSpPr>
        <p:spPr>
          <a:xfrm>
            <a:off x="7045161" y="1540762"/>
            <a:ext cx="28575" cy="1186532"/>
          </a:xfrm>
          <a:prstGeom prst="rect">
            <a:avLst/>
          </a:prstGeom>
          <a:solidFill>
            <a:srgbClr val="64FFDA"/>
          </a:solidFill>
          <a:ln/>
        </p:spPr>
      </p:sp>
      <p:sp>
        <p:nvSpPr>
          <p:cNvPr id="13" name="Text 8"/>
          <p:cNvSpPr/>
          <p:nvPr/>
        </p:nvSpPr>
        <p:spPr>
          <a:xfrm>
            <a:off x="7188036" y="1597912"/>
            <a:ext cx="1234446" cy="201811"/>
          </a:xfrm>
          <a:prstGeom prst="rect">
            <a:avLst/>
          </a:prstGeom>
          <a:noFill/>
          <a:ln/>
        </p:spPr>
        <p:txBody>
          <a:bodyPr wrap="none" lIns="0" tIns="0" rIns="0" bIns="0" rtlCol="0" anchor="t">
            <a:spAutoFit/>
          </a:bodyPr>
          <a:lstStyle/>
          <a:p>
            <a:pPr algn="l" indent="0" marL="0">
              <a:buNone/>
            </a:pPr>
            <a:r>
              <a:rPr lang="en-US" sz="1100" b="1" dirty="0">
                <a:solidFill>
                  <a:srgbClr val="64FFDA"/>
                </a:solidFill>
                <a:latin typeface="Space Grotesk Medium" pitchFamily="34" charset="0"/>
                <a:ea typeface="Space Grotesk Medium" pitchFamily="34" charset="-122"/>
                <a:cs typeface="Space Grotesk Medium" pitchFamily="34" charset="-120"/>
              </a:rPr>
              <a:t>REMOTE ACCESS</a:t>
            </a:r>
            <a:endParaRPr lang="en-US" sz="1100" dirty="0"/>
          </a:p>
        </p:txBody>
      </p:sp>
      <p:sp>
        <p:nvSpPr>
          <p:cNvPr id="14" name="Text 9"/>
          <p:cNvSpPr/>
          <p:nvPr/>
        </p:nvSpPr>
        <p:spPr>
          <a:xfrm>
            <a:off x="7188036" y="1828298"/>
            <a:ext cx="1234446" cy="640035"/>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E6F1FF"/>
                </a:solidFill>
                <a:latin typeface="Inter" pitchFamily="34" charset="0"/>
                <a:ea typeface="Inter" pitchFamily="34" charset="-122"/>
                <a:cs typeface="Inter" pitchFamily="34" charset="-120"/>
              </a:rPr>
              <a:t>Control and monitor devices from anywhere using the Sinric Pro app.</a:t>
            </a:r>
            <a:endParaRPr lang="en-US" sz="850" dirty="0"/>
          </a:p>
        </p:txBody>
      </p:sp>
      <p:sp>
        <p:nvSpPr>
          <p:cNvPr id="15" name="Shape 10"/>
          <p:cNvSpPr/>
          <p:nvPr/>
        </p:nvSpPr>
        <p:spPr>
          <a:xfrm>
            <a:off x="5439240" y="2813019"/>
            <a:ext cx="1520196" cy="1186532"/>
          </a:xfrm>
          <a:prstGeom prst="rect">
            <a:avLst/>
          </a:prstGeom>
          <a:solidFill>
            <a:srgbClr val="172A45"/>
          </a:solidFill>
          <a:ln/>
        </p:spPr>
      </p:sp>
      <p:sp>
        <p:nvSpPr>
          <p:cNvPr id="16" name="Shape 11"/>
          <p:cNvSpPr/>
          <p:nvPr/>
        </p:nvSpPr>
        <p:spPr>
          <a:xfrm>
            <a:off x="5439240" y="2813019"/>
            <a:ext cx="28575" cy="1186532"/>
          </a:xfrm>
          <a:prstGeom prst="rect">
            <a:avLst/>
          </a:prstGeom>
          <a:solidFill>
            <a:srgbClr val="64FFDA"/>
          </a:solidFill>
          <a:ln/>
        </p:spPr>
      </p:sp>
      <p:sp>
        <p:nvSpPr>
          <p:cNvPr id="17" name="Text 12"/>
          <p:cNvSpPr/>
          <p:nvPr/>
        </p:nvSpPr>
        <p:spPr>
          <a:xfrm>
            <a:off x="5582115" y="2870169"/>
            <a:ext cx="1234446" cy="201811"/>
          </a:xfrm>
          <a:prstGeom prst="rect">
            <a:avLst/>
          </a:prstGeom>
          <a:noFill/>
          <a:ln/>
        </p:spPr>
        <p:txBody>
          <a:bodyPr wrap="none" lIns="0" tIns="0" rIns="0" bIns="0" rtlCol="0" anchor="t">
            <a:spAutoFit/>
          </a:bodyPr>
          <a:lstStyle/>
          <a:p>
            <a:pPr algn="l" indent="0" marL="0">
              <a:buNone/>
            </a:pPr>
            <a:r>
              <a:rPr lang="en-US" sz="1100" b="1" dirty="0">
                <a:solidFill>
                  <a:srgbClr val="64FFDA"/>
                </a:solidFill>
                <a:latin typeface="Space Grotesk Medium" pitchFamily="34" charset="0"/>
                <a:ea typeface="Space Grotesk Medium" pitchFamily="34" charset="-122"/>
                <a:cs typeface="Space Grotesk Medium" pitchFamily="34" charset="-120"/>
              </a:rPr>
              <a:t>REAL-TIME SYNC</a:t>
            </a:r>
            <a:endParaRPr lang="en-US" sz="1100" dirty="0"/>
          </a:p>
        </p:txBody>
      </p:sp>
      <p:sp>
        <p:nvSpPr>
          <p:cNvPr id="18" name="Text 13"/>
          <p:cNvSpPr/>
          <p:nvPr/>
        </p:nvSpPr>
        <p:spPr>
          <a:xfrm>
            <a:off x="5582115" y="3100555"/>
            <a:ext cx="1234446" cy="480027"/>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E6F1FF"/>
                </a:solidFill>
                <a:latin typeface="Inter" pitchFamily="34" charset="0"/>
                <a:ea typeface="Inter" pitchFamily="34" charset="-122"/>
                <a:cs typeface="Inter" pitchFamily="34" charset="-120"/>
              </a:rPr>
              <a:t>Maintain consistent device states across all control interfaces.</a:t>
            </a:r>
            <a:endParaRPr lang="en-US" sz="850" dirty="0"/>
          </a:p>
        </p:txBody>
      </p:sp>
      <p:sp>
        <p:nvSpPr>
          <p:cNvPr id="19" name="Shape 14"/>
          <p:cNvSpPr/>
          <p:nvPr/>
        </p:nvSpPr>
        <p:spPr>
          <a:xfrm>
            <a:off x="7045161" y="2813019"/>
            <a:ext cx="1520196" cy="1186532"/>
          </a:xfrm>
          <a:prstGeom prst="rect">
            <a:avLst/>
          </a:prstGeom>
          <a:solidFill>
            <a:srgbClr val="172A45"/>
          </a:solidFill>
          <a:ln/>
        </p:spPr>
      </p:sp>
      <p:sp>
        <p:nvSpPr>
          <p:cNvPr id="20" name="Shape 15"/>
          <p:cNvSpPr/>
          <p:nvPr/>
        </p:nvSpPr>
        <p:spPr>
          <a:xfrm>
            <a:off x="7045161" y="2813019"/>
            <a:ext cx="28575" cy="1186532"/>
          </a:xfrm>
          <a:prstGeom prst="rect">
            <a:avLst/>
          </a:prstGeom>
          <a:solidFill>
            <a:srgbClr val="64FFDA"/>
          </a:solidFill>
          <a:ln/>
        </p:spPr>
      </p:sp>
      <p:sp>
        <p:nvSpPr>
          <p:cNvPr id="21" name="Text 16"/>
          <p:cNvSpPr/>
          <p:nvPr/>
        </p:nvSpPr>
        <p:spPr>
          <a:xfrm>
            <a:off x="7188036" y="2870169"/>
            <a:ext cx="1234446" cy="403622"/>
          </a:xfrm>
          <a:prstGeom prst="rect">
            <a:avLst/>
          </a:prstGeom>
          <a:noFill/>
          <a:ln/>
        </p:spPr>
        <p:txBody>
          <a:bodyPr wrap="none" lIns="0" tIns="0" rIns="0" bIns="0" rtlCol="0" anchor="t">
            <a:spAutoFit/>
          </a:bodyPr>
          <a:lstStyle/>
          <a:p>
            <a:pPr algn="l" indent="0" marL="0">
              <a:buNone/>
            </a:pPr>
            <a:r>
              <a:rPr lang="en-US" sz="1100" b="1" dirty="0">
                <a:solidFill>
                  <a:srgbClr val="64FFDA"/>
                </a:solidFill>
                <a:latin typeface="Space Grotesk Medium" pitchFamily="34" charset="0"/>
                <a:ea typeface="Space Grotesk Medium" pitchFamily="34" charset="-122"/>
                <a:cs typeface="Space Grotesk Medium" pitchFamily="34" charset="-120"/>
              </a:rPr>
              <a:t>COST EFFICIENCY</a:t>
            </a:r>
            <a:endParaRPr lang="en-US" sz="1100" dirty="0"/>
          </a:p>
        </p:txBody>
      </p:sp>
      <p:sp>
        <p:nvSpPr>
          <p:cNvPr id="22" name="Text 17"/>
          <p:cNvSpPr/>
          <p:nvPr/>
        </p:nvSpPr>
        <p:spPr>
          <a:xfrm>
            <a:off x="7188036" y="3302366"/>
            <a:ext cx="1234446" cy="640035"/>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E6F1FF"/>
                </a:solidFill>
                <a:latin typeface="Inter" pitchFamily="34" charset="0"/>
                <a:ea typeface="Inter" pitchFamily="34" charset="-122"/>
                <a:cs typeface="Inter" pitchFamily="34" charset="-120"/>
              </a:rPr>
              <a:t>Utilize low-cost hardware for an affordable smart home solution.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8644" y="577500"/>
            <a:ext cx="3679031" cy="535781"/>
          </a:xfrm>
          <a:prstGeom prst="rect">
            <a:avLst/>
          </a:prstGeom>
          <a:noFill/>
          <a:ln/>
        </p:spPr>
        <p:txBody>
          <a:bodyPr wrap="square" lIns="0" tIns="0" rIns="0" bIns="68072"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Hardware Components</a:t>
            </a:r>
            <a:endParaRPr lang="en-US" sz="2450" dirty="0"/>
          </a:p>
        </p:txBody>
      </p:sp>
      <p:sp>
        <p:nvSpPr>
          <p:cNvPr id="5" name="Text 1"/>
          <p:cNvSpPr/>
          <p:nvPr/>
        </p:nvSpPr>
        <p:spPr>
          <a:xfrm>
            <a:off x="7144" y="1540762"/>
            <a:ext cx="9129713" cy="182166"/>
          </a:xfrm>
          <a:prstGeom prst="rect">
            <a:avLst/>
          </a:prstGeom>
          <a:noFill/>
          <a:ln/>
        </p:spPr>
        <p:txBody>
          <a:bodyPr wrap="square" lIns="680339" tIns="0" rIns="680339" bIns="0" rtlCol="0" anchor="t">
            <a:spAutoFit/>
          </a:bodyPr>
          <a:lstStyle/>
          <a:p>
            <a:pPr algn="l" indent="0" marL="0">
              <a:buNone/>
            </a:pPr>
            <a:r>
              <a:rPr lang="en-US" sz="1050" dirty="0">
                <a:solidFill>
                  <a:srgbClr val="E6F1FF"/>
                </a:solidFill>
                <a:latin typeface="Space Grotesk Medium" pitchFamily="34" charset="0"/>
                <a:ea typeface="Space Grotesk Medium" pitchFamily="34" charset="-122"/>
                <a:cs typeface="Space Grotesk Medium" pitchFamily="34" charset="-120"/>
              </a:rPr>
              <a:t>Table of required components with function and quantity — essential for building and testing the prototype.</a:t>
            </a:r>
            <a:endParaRPr lang="en-US" sz="1050" dirty="0"/>
          </a:p>
        </p:txBody>
      </p:sp>
      <p:sp>
        <p:nvSpPr>
          <p:cNvPr id="6" name="Shape 2"/>
          <p:cNvSpPr/>
          <p:nvPr/>
        </p:nvSpPr>
        <p:spPr>
          <a:xfrm>
            <a:off x="578644" y="1808652"/>
            <a:ext cx="7986713" cy="1767967"/>
          </a:xfrm>
          <a:prstGeom prst="rect">
            <a:avLst/>
          </a:prstGeom>
          <a:solidFill>
            <a:srgbClr val="172A45"/>
          </a:solidFill>
          <a:ln/>
        </p:spPr>
      </p:sp>
      <p:sp>
        <p:nvSpPr>
          <p:cNvPr id="7" name="Shape 3"/>
          <p:cNvSpPr/>
          <p:nvPr/>
        </p:nvSpPr>
        <p:spPr>
          <a:xfrm>
            <a:off x="578644" y="1808652"/>
            <a:ext cx="2245286" cy="292894"/>
          </a:xfrm>
          <a:prstGeom prst="rect">
            <a:avLst/>
          </a:prstGeom>
          <a:solidFill>
            <a:srgbClr val="64FFDA"/>
          </a:solidFill>
          <a:ln/>
        </p:spPr>
      </p:sp>
      <p:sp>
        <p:nvSpPr>
          <p:cNvPr id="8" name="Text 4"/>
          <p:cNvSpPr/>
          <p:nvPr/>
        </p:nvSpPr>
        <p:spPr>
          <a:xfrm>
            <a:off x="578644" y="1808652"/>
            <a:ext cx="2245286" cy="292894"/>
          </a:xfrm>
          <a:prstGeom prst="rect">
            <a:avLst/>
          </a:prstGeom>
          <a:noFill/>
          <a:ln/>
        </p:spPr>
        <p:txBody>
          <a:bodyPr wrap="square" lIns="136017" tIns="85090" rIns="136017" bIns="68072" rtlCol="0" anchor="ctr">
            <a:spAutoFit/>
          </a:bodyPr>
          <a:lstStyle/>
          <a:p>
            <a:pPr algn="l" indent="0" marL="0">
              <a:buNone/>
            </a:pPr>
            <a:r>
              <a:rPr lang="en-US" sz="900" b="1" spc="1" kern="0" dirty="0">
                <a:solidFill>
                  <a:srgbClr val="0A192F"/>
                </a:solidFill>
                <a:latin typeface="Space Grotesk Medium" pitchFamily="34" charset="0"/>
                <a:ea typeface="Space Grotesk Medium" pitchFamily="34" charset="-122"/>
                <a:cs typeface="Space Grotesk Medium" pitchFamily="34" charset="-120"/>
              </a:rPr>
              <a:t>COMPONENT</a:t>
            </a:r>
            <a:endParaRPr lang="en-US" sz="900" dirty="0"/>
          </a:p>
        </p:txBody>
      </p:sp>
      <p:sp>
        <p:nvSpPr>
          <p:cNvPr id="9" name="Shape 5"/>
          <p:cNvSpPr/>
          <p:nvPr/>
        </p:nvSpPr>
        <p:spPr>
          <a:xfrm>
            <a:off x="2823930" y="1808652"/>
            <a:ext cx="5143891" cy="292894"/>
          </a:xfrm>
          <a:prstGeom prst="rect">
            <a:avLst/>
          </a:prstGeom>
          <a:solidFill>
            <a:srgbClr val="64FFDA"/>
          </a:solidFill>
          <a:ln/>
        </p:spPr>
      </p:sp>
      <p:sp>
        <p:nvSpPr>
          <p:cNvPr id="10" name="Text 6"/>
          <p:cNvSpPr/>
          <p:nvPr/>
        </p:nvSpPr>
        <p:spPr>
          <a:xfrm>
            <a:off x="2823930" y="1808652"/>
            <a:ext cx="5143891" cy="292894"/>
          </a:xfrm>
          <a:prstGeom prst="rect">
            <a:avLst/>
          </a:prstGeom>
          <a:noFill/>
          <a:ln/>
        </p:spPr>
        <p:txBody>
          <a:bodyPr wrap="square" lIns="136017" tIns="85090" rIns="136017" bIns="68072" rtlCol="0" anchor="ctr">
            <a:spAutoFit/>
          </a:bodyPr>
          <a:lstStyle/>
          <a:p>
            <a:pPr algn="l" indent="0" marL="0">
              <a:buNone/>
            </a:pPr>
            <a:r>
              <a:rPr lang="en-US" sz="900" b="1" spc="1" kern="0" dirty="0">
                <a:solidFill>
                  <a:srgbClr val="0A192F"/>
                </a:solidFill>
                <a:latin typeface="Space Grotesk Medium" pitchFamily="34" charset="0"/>
                <a:ea typeface="Space Grotesk Medium" pitchFamily="34" charset="-122"/>
                <a:cs typeface="Space Grotesk Medium" pitchFamily="34" charset="-120"/>
              </a:rPr>
              <a:t>FUNCTION</a:t>
            </a:r>
            <a:endParaRPr lang="en-US" sz="900" dirty="0"/>
          </a:p>
        </p:txBody>
      </p:sp>
      <p:sp>
        <p:nvSpPr>
          <p:cNvPr id="11" name="Shape 7"/>
          <p:cNvSpPr/>
          <p:nvPr/>
        </p:nvSpPr>
        <p:spPr>
          <a:xfrm>
            <a:off x="7967821" y="1808652"/>
            <a:ext cx="597536" cy="292894"/>
          </a:xfrm>
          <a:prstGeom prst="rect">
            <a:avLst/>
          </a:prstGeom>
          <a:solidFill>
            <a:srgbClr val="64FFDA"/>
          </a:solidFill>
          <a:ln/>
        </p:spPr>
      </p:sp>
      <p:sp>
        <p:nvSpPr>
          <p:cNvPr id="12" name="Text 8"/>
          <p:cNvSpPr/>
          <p:nvPr/>
        </p:nvSpPr>
        <p:spPr>
          <a:xfrm>
            <a:off x="7967821" y="1808652"/>
            <a:ext cx="597536" cy="292894"/>
          </a:xfrm>
          <a:prstGeom prst="rect">
            <a:avLst/>
          </a:prstGeom>
          <a:noFill/>
          <a:ln/>
        </p:spPr>
        <p:txBody>
          <a:bodyPr wrap="none" lIns="136017" tIns="85090" rIns="136017" bIns="68072" rtlCol="0" anchor="ctr">
            <a:spAutoFit/>
          </a:bodyPr>
          <a:lstStyle/>
          <a:p>
            <a:pPr algn="ctr" indent="0" marL="0">
              <a:buNone/>
            </a:pPr>
            <a:r>
              <a:rPr lang="en-US" sz="900" b="1" spc="1" kern="0" dirty="0">
                <a:solidFill>
                  <a:srgbClr val="0A192F"/>
                </a:solidFill>
                <a:latin typeface="Space Grotesk Medium" pitchFamily="34" charset="0"/>
                <a:ea typeface="Space Grotesk Medium" pitchFamily="34" charset="-122"/>
                <a:cs typeface="Space Grotesk Medium" pitchFamily="34" charset="-120"/>
              </a:rPr>
              <a:t>QTY</a:t>
            </a:r>
            <a:endParaRPr lang="en-US" sz="900" dirty="0"/>
          </a:p>
        </p:txBody>
      </p:sp>
      <p:sp>
        <p:nvSpPr>
          <p:cNvPr id="13" name="Text 9"/>
          <p:cNvSpPr/>
          <p:nvPr/>
        </p:nvSpPr>
        <p:spPr>
          <a:xfrm>
            <a:off x="578644" y="2101546"/>
            <a:ext cx="2245286" cy="291443"/>
          </a:xfrm>
          <a:prstGeom prst="rect">
            <a:avLst/>
          </a:prstGeom>
          <a:noFill/>
          <a:ln/>
        </p:spPr>
        <p:txBody>
          <a:bodyPr wrap="square" lIns="136017" tIns="68072" rIns="136017" bIns="68072" rtlCol="0" anchor="ctr">
            <a:spAutoFit/>
          </a:bodyPr>
          <a:lstStyle/>
          <a:p>
            <a:pPr algn="l" indent="0" marL="0">
              <a:lnSpc>
                <a:spcPct val="108000"/>
              </a:lnSpc>
              <a:buNone/>
            </a:pPr>
            <a:r>
              <a:rPr lang="en-US" sz="900" dirty="0">
                <a:solidFill>
                  <a:srgbClr val="64FFDA"/>
                </a:solidFill>
                <a:latin typeface="Inter" pitchFamily="34" charset="0"/>
                <a:ea typeface="Inter" pitchFamily="34" charset="-122"/>
                <a:cs typeface="Inter" pitchFamily="34" charset="-120"/>
              </a:rPr>
              <a:t>NodeMCU ESP8266</a:t>
            </a:r>
            <a:endParaRPr lang="en-US" sz="900" dirty="0"/>
          </a:p>
        </p:txBody>
      </p:sp>
      <p:sp>
        <p:nvSpPr>
          <p:cNvPr id="14" name="Text 10"/>
          <p:cNvSpPr/>
          <p:nvPr/>
        </p:nvSpPr>
        <p:spPr>
          <a:xfrm>
            <a:off x="2823930" y="2101546"/>
            <a:ext cx="5143891" cy="291443"/>
          </a:xfrm>
          <a:prstGeom prst="rect">
            <a:avLst/>
          </a:prstGeom>
          <a:noFill/>
          <a:ln/>
        </p:spPr>
        <p:txBody>
          <a:bodyPr wrap="square" lIns="136017" tIns="68072" rIns="136017" bIns="68072" rtlCol="0" anchor="ctr">
            <a:spAutoFit/>
          </a:bodyPr>
          <a:lstStyle/>
          <a:p>
            <a:pPr algn="l" indent="0" marL="0">
              <a:lnSpc>
                <a:spcPct val="108000"/>
              </a:lnSpc>
              <a:buNone/>
            </a:pPr>
            <a:r>
              <a:rPr lang="en-US" sz="950" dirty="0">
                <a:solidFill>
                  <a:srgbClr val="FFFFFF"/>
                </a:solidFill>
                <a:latin typeface="Inter" pitchFamily="34" charset="0"/>
                <a:ea typeface="Inter" pitchFamily="34" charset="-122"/>
                <a:cs typeface="Inter" pitchFamily="34" charset="-120"/>
              </a:rPr>
              <a:t>Wi-Fi microcontroller; receives cloud commands and controls relays.</a:t>
            </a:r>
            <a:endParaRPr lang="en-US" sz="950" dirty="0"/>
          </a:p>
        </p:txBody>
      </p:sp>
      <p:sp>
        <p:nvSpPr>
          <p:cNvPr id="15" name="Text 11"/>
          <p:cNvSpPr/>
          <p:nvPr/>
        </p:nvSpPr>
        <p:spPr>
          <a:xfrm>
            <a:off x="7967821" y="2101546"/>
            <a:ext cx="597536" cy="291443"/>
          </a:xfrm>
          <a:prstGeom prst="rect">
            <a:avLst/>
          </a:prstGeom>
          <a:noFill/>
          <a:ln/>
        </p:spPr>
        <p:txBody>
          <a:bodyPr wrap="square" lIns="136017" tIns="68072" rIns="136017" bIns="68072" rtlCol="0" anchor="ctr">
            <a:spAutoFit/>
          </a:bodyPr>
          <a:lstStyle/>
          <a:p>
            <a:pPr algn="ctr" indent="0" marL="0">
              <a:lnSpc>
                <a:spcPct val="108000"/>
              </a:lnSpc>
              <a:buNone/>
            </a:pPr>
            <a:r>
              <a:rPr lang="en-US" sz="950" dirty="0">
                <a:solidFill>
                  <a:srgbClr val="FFFFFF"/>
                </a:solidFill>
                <a:latin typeface="Inter" pitchFamily="34" charset="0"/>
                <a:ea typeface="Inter" pitchFamily="34" charset="-122"/>
                <a:cs typeface="Inter" pitchFamily="34" charset="-120"/>
              </a:rPr>
              <a:t>1</a:t>
            </a:r>
            <a:endParaRPr lang="en-US" sz="950" dirty="0"/>
          </a:p>
        </p:txBody>
      </p:sp>
      <p:sp>
        <p:nvSpPr>
          <p:cNvPr id="16" name="Text 12"/>
          <p:cNvSpPr/>
          <p:nvPr/>
        </p:nvSpPr>
        <p:spPr>
          <a:xfrm>
            <a:off x="578644" y="2392989"/>
            <a:ext cx="2245286" cy="295015"/>
          </a:xfrm>
          <a:prstGeom prst="rect">
            <a:avLst/>
          </a:prstGeom>
          <a:noFill/>
          <a:ln/>
        </p:spPr>
        <p:txBody>
          <a:bodyPr wrap="square" lIns="136017" tIns="68072" rIns="136017" bIns="68072" rtlCol="0" anchor="ctr">
            <a:spAutoFit/>
          </a:bodyPr>
          <a:lstStyle/>
          <a:p>
            <a:pPr algn="l" indent="0" marL="0">
              <a:lnSpc>
                <a:spcPct val="108000"/>
              </a:lnSpc>
              <a:buNone/>
            </a:pPr>
            <a:r>
              <a:rPr lang="en-US" sz="900" dirty="0">
                <a:solidFill>
                  <a:srgbClr val="64FFDA"/>
                </a:solidFill>
                <a:latin typeface="Inter" pitchFamily="34" charset="0"/>
                <a:ea typeface="Inter" pitchFamily="34" charset="-122"/>
                <a:cs typeface="Inter" pitchFamily="34" charset="-120"/>
              </a:rPr>
              <a:t>4-Channel Relay Module</a:t>
            </a:r>
            <a:endParaRPr lang="en-US" sz="900" dirty="0"/>
          </a:p>
        </p:txBody>
      </p:sp>
      <p:sp>
        <p:nvSpPr>
          <p:cNvPr id="17" name="Text 13"/>
          <p:cNvSpPr/>
          <p:nvPr/>
        </p:nvSpPr>
        <p:spPr>
          <a:xfrm>
            <a:off x="2823930" y="2392989"/>
            <a:ext cx="5143891" cy="295015"/>
          </a:xfrm>
          <a:prstGeom prst="rect">
            <a:avLst/>
          </a:prstGeom>
          <a:noFill/>
          <a:ln/>
        </p:spPr>
        <p:txBody>
          <a:bodyPr wrap="square" lIns="136017" tIns="68072" rIns="136017" bIns="68072" rtlCol="0" anchor="ctr">
            <a:spAutoFit/>
          </a:bodyPr>
          <a:lstStyle/>
          <a:p>
            <a:pPr algn="l" indent="0" marL="0">
              <a:lnSpc>
                <a:spcPct val="108000"/>
              </a:lnSpc>
              <a:buNone/>
            </a:pPr>
            <a:r>
              <a:rPr lang="en-US" sz="950" dirty="0">
                <a:solidFill>
                  <a:srgbClr val="FFFFFF"/>
                </a:solidFill>
                <a:latin typeface="Inter" pitchFamily="34" charset="0"/>
                <a:ea typeface="Inter" pitchFamily="34" charset="-122"/>
                <a:cs typeface="Inter" pitchFamily="34" charset="-120"/>
              </a:rPr>
              <a:t>Acts as an electronic switch to control high-voltage AC appliances.</a:t>
            </a:r>
            <a:endParaRPr lang="en-US" sz="950" dirty="0"/>
          </a:p>
        </p:txBody>
      </p:sp>
      <p:sp>
        <p:nvSpPr>
          <p:cNvPr id="18" name="Text 14"/>
          <p:cNvSpPr/>
          <p:nvPr/>
        </p:nvSpPr>
        <p:spPr>
          <a:xfrm>
            <a:off x="7967821" y="2392989"/>
            <a:ext cx="597536" cy="295015"/>
          </a:xfrm>
          <a:prstGeom prst="rect">
            <a:avLst/>
          </a:prstGeom>
          <a:noFill/>
          <a:ln/>
        </p:spPr>
        <p:txBody>
          <a:bodyPr wrap="square" lIns="136017" tIns="68072" rIns="136017" bIns="68072" rtlCol="0" anchor="ctr">
            <a:spAutoFit/>
          </a:bodyPr>
          <a:lstStyle/>
          <a:p>
            <a:pPr algn="ctr" indent="0" marL="0">
              <a:lnSpc>
                <a:spcPct val="108000"/>
              </a:lnSpc>
              <a:buNone/>
            </a:pPr>
            <a:r>
              <a:rPr lang="en-US" sz="950" dirty="0">
                <a:solidFill>
                  <a:srgbClr val="FFFFFF"/>
                </a:solidFill>
                <a:latin typeface="Inter" pitchFamily="34" charset="0"/>
                <a:ea typeface="Inter" pitchFamily="34" charset="-122"/>
                <a:cs typeface="Inter" pitchFamily="34" charset="-120"/>
              </a:rPr>
              <a:t>1</a:t>
            </a:r>
            <a:endParaRPr lang="en-US" sz="950" dirty="0"/>
          </a:p>
        </p:txBody>
      </p:sp>
      <p:sp>
        <p:nvSpPr>
          <p:cNvPr id="19" name="Text 15"/>
          <p:cNvSpPr/>
          <p:nvPr/>
        </p:nvSpPr>
        <p:spPr>
          <a:xfrm>
            <a:off x="578644" y="2688003"/>
            <a:ext cx="2245286" cy="295015"/>
          </a:xfrm>
          <a:prstGeom prst="rect">
            <a:avLst/>
          </a:prstGeom>
          <a:noFill/>
          <a:ln/>
        </p:spPr>
        <p:txBody>
          <a:bodyPr wrap="square" lIns="136017" tIns="68072" rIns="136017" bIns="68072" rtlCol="0" anchor="ctr">
            <a:spAutoFit/>
          </a:bodyPr>
          <a:lstStyle/>
          <a:p>
            <a:pPr algn="l" indent="0" marL="0">
              <a:lnSpc>
                <a:spcPct val="108000"/>
              </a:lnSpc>
              <a:buNone/>
            </a:pPr>
            <a:r>
              <a:rPr lang="en-US" sz="900" dirty="0">
                <a:solidFill>
                  <a:srgbClr val="64FFDA"/>
                </a:solidFill>
                <a:latin typeface="Inter" pitchFamily="34" charset="0"/>
                <a:ea typeface="Inter" pitchFamily="34" charset="-122"/>
                <a:cs typeface="Inter" pitchFamily="34" charset="-120"/>
              </a:rPr>
              <a:t>AC Appliances</a:t>
            </a:r>
            <a:endParaRPr lang="en-US" sz="900" dirty="0"/>
          </a:p>
        </p:txBody>
      </p:sp>
      <p:sp>
        <p:nvSpPr>
          <p:cNvPr id="20" name="Text 16"/>
          <p:cNvSpPr/>
          <p:nvPr/>
        </p:nvSpPr>
        <p:spPr>
          <a:xfrm>
            <a:off x="2823930" y="2688003"/>
            <a:ext cx="5143891" cy="295015"/>
          </a:xfrm>
          <a:prstGeom prst="rect">
            <a:avLst/>
          </a:prstGeom>
          <a:noFill/>
          <a:ln/>
        </p:spPr>
        <p:txBody>
          <a:bodyPr wrap="square" lIns="136017" tIns="68072" rIns="136017" bIns="68072" rtlCol="0" anchor="ctr">
            <a:spAutoFit/>
          </a:bodyPr>
          <a:lstStyle/>
          <a:p>
            <a:pPr algn="l" indent="0" marL="0">
              <a:lnSpc>
                <a:spcPct val="108000"/>
              </a:lnSpc>
              <a:buNone/>
            </a:pPr>
            <a:r>
              <a:rPr lang="en-US" sz="950" dirty="0">
                <a:solidFill>
                  <a:srgbClr val="FFFFFF"/>
                </a:solidFill>
                <a:latin typeface="Inter" pitchFamily="34" charset="0"/>
                <a:ea typeface="Inter" pitchFamily="34" charset="-122"/>
                <a:cs typeface="Inter" pitchFamily="34" charset="-120"/>
              </a:rPr>
              <a:t>Household devices like bulbs or fans to be automated.</a:t>
            </a:r>
            <a:endParaRPr lang="en-US" sz="950" dirty="0"/>
          </a:p>
        </p:txBody>
      </p:sp>
      <p:sp>
        <p:nvSpPr>
          <p:cNvPr id="21" name="Text 17"/>
          <p:cNvSpPr/>
          <p:nvPr/>
        </p:nvSpPr>
        <p:spPr>
          <a:xfrm>
            <a:off x="7967821" y="2688003"/>
            <a:ext cx="597536" cy="295015"/>
          </a:xfrm>
          <a:prstGeom prst="rect">
            <a:avLst/>
          </a:prstGeom>
          <a:noFill/>
          <a:ln/>
        </p:spPr>
        <p:txBody>
          <a:bodyPr wrap="square" lIns="136017" tIns="68072" rIns="136017" bIns="68072" rtlCol="0" anchor="ctr">
            <a:spAutoFit/>
          </a:bodyPr>
          <a:lstStyle/>
          <a:p>
            <a:pPr algn="ctr" indent="0" marL="0">
              <a:lnSpc>
                <a:spcPct val="108000"/>
              </a:lnSpc>
              <a:buNone/>
            </a:pPr>
            <a:r>
              <a:rPr lang="en-US" sz="950" dirty="0">
                <a:solidFill>
                  <a:srgbClr val="FFFFFF"/>
                </a:solidFill>
                <a:latin typeface="Inter" pitchFamily="34" charset="0"/>
                <a:ea typeface="Inter" pitchFamily="34" charset="-122"/>
                <a:cs typeface="Inter" pitchFamily="34" charset="-120"/>
              </a:rPr>
              <a:t>4</a:t>
            </a:r>
            <a:endParaRPr lang="en-US" sz="950" dirty="0"/>
          </a:p>
        </p:txBody>
      </p:sp>
      <p:sp>
        <p:nvSpPr>
          <p:cNvPr id="22" name="Text 18"/>
          <p:cNvSpPr/>
          <p:nvPr/>
        </p:nvSpPr>
        <p:spPr>
          <a:xfrm>
            <a:off x="578644" y="2983018"/>
            <a:ext cx="2245286" cy="295015"/>
          </a:xfrm>
          <a:prstGeom prst="rect">
            <a:avLst/>
          </a:prstGeom>
          <a:noFill/>
          <a:ln/>
        </p:spPr>
        <p:txBody>
          <a:bodyPr wrap="square" lIns="136017" tIns="68072" rIns="136017" bIns="68072" rtlCol="0" anchor="ctr">
            <a:spAutoFit/>
          </a:bodyPr>
          <a:lstStyle/>
          <a:p>
            <a:pPr algn="l" indent="0" marL="0">
              <a:lnSpc>
                <a:spcPct val="108000"/>
              </a:lnSpc>
              <a:buNone/>
            </a:pPr>
            <a:r>
              <a:rPr lang="en-US" sz="900" dirty="0">
                <a:solidFill>
                  <a:srgbClr val="64FFDA"/>
                </a:solidFill>
                <a:latin typeface="Inter" pitchFamily="34" charset="0"/>
                <a:ea typeface="Inter" pitchFamily="34" charset="-122"/>
                <a:cs typeface="Inter" pitchFamily="34" charset="-120"/>
              </a:rPr>
              <a:t>Power Supply (5V DC)</a:t>
            </a:r>
            <a:endParaRPr lang="en-US" sz="900" dirty="0"/>
          </a:p>
        </p:txBody>
      </p:sp>
      <p:sp>
        <p:nvSpPr>
          <p:cNvPr id="23" name="Text 19"/>
          <p:cNvSpPr/>
          <p:nvPr/>
        </p:nvSpPr>
        <p:spPr>
          <a:xfrm>
            <a:off x="2823930" y="2983018"/>
            <a:ext cx="5143891" cy="295015"/>
          </a:xfrm>
          <a:prstGeom prst="rect">
            <a:avLst/>
          </a:prstGeom>
          <a:noFill/>
          <a:ln/>
        </p:spPr>
        <p:txBody>
          <a:bodyPr wrap="square" lIns="136017" tIns="68072" rIns="136017" bIns="68072" rtlCol="0" anchor="ctr">
            <a:spAutoFit/>
          </a:bodyPr>
          <a:lstStyle/>
          <a:p>
            <a:pPr algn="l" indent="0" marL="0">
              <a:lnSpc>
                <a:spcPct val="108000"/>
              </a:lnSpc>
              <a:buNone/>
            </a:pPr>
            <a:r>
              <a:rPr lang="en-US" sz="950" dirty="0">
                <a:solidFill>
                  <a:srgbClr val="FFFFFF"/>
                </a:solidFill>
                <a:latin typeface="Inter" pitchFamily="34" charset="0"/>
                <a:ea typeface="Inter" pitchFamily="34" charset="-122"/>
                <a:cs typeface="Inter" pitchFamily="34" charset="-120"/>
              </a:rPr>
              <a:t>Regulated power source for the NodeMCU and relay coils.</a:t>
            </a:r>
            <a:endParaRPr lang="en-US" sz="950" dirty="0"/>
          </a:p>
        </p:txBody>
      </p:sp>
      <p:sp>
        <p:nvSpPr>
          <p:cNvPr id="24" name="Text 20"/>
          <p:cNvSpPr/>
          <p:nvPr/>
        </p:nvSpPr>
        <p:spPr>
          <a:xfrm>
            <a:off x="7967821" y="2983018"/>
            <a:ext cx="597536" cy="295015"/>
          </a:xfrm>
          <a:prstGeom prst="rect">
            <a:avLst/>
          </a:prstGeom>
          <a:noFill/>
          <a:ln/>
        </p:spPr>
        <p:txBody>
          <a:bodyPr wrap="square" lIns="136017" tIns="68072" rIns="136017" bIns="68072" rtlCol="0" anchor="ctr">
            <a:spAutoFit/>
          </a:bodyPr>
          <a:lstStyle/>
          <a:p>
            <a:pPr algn="ctr" indent="0" marL="0">
              <a:lnSpc>
                <a:spcPct val="108000"/>
              </a:lnSpc>
              <a:buNone/>
            </a:pPr>
            <a:r>
              <a:rPr lang="en-US" sz="950" dirty="0">
                <a:solidFill>
                  <a:srgbClr val="FFFFFF"/>
                </a:solidFill>
                <a:latin typeface="Inter" pitchFamily="34" charset="0"/>
                <a:ea typeface="Inter" pitchFamily="34" charset="-122"/>
                <a:cs typeface="Inter" pitchFamily="34" charset="-120"/>
              </a:rPr>
              <a:t>1</a:t>
            </a:r>
            <a:endParaRPr lang="en-US" sz="950" dirty="0"/>
          </a:p>
        </p:txBody>
      </p:sp>
      <p:sp>
        <p:nvSpPr>
          <p:cNvPr id="25" name="Text 21"/>
          <p:cNvSpPr/>
          <p:nvPr/>
        </p:nvSpPr>
        <p:spPr>
          <a:xfrm>
            <a:off x="578644" y="3278032"/>
            <a:ext cx="2245286" cy="295015"/>
          </a:xfrm>
          <a:prstGeom prst="rect">
            <a:avLst/>
          </a:prstGeom>
          <a:noFill/>
          <a:ln/>
        </p:spPr>
        <p:txBody>
          <a:bodyPr wrap="square" lIns="136017" tIns="68072" rIns="136017" bIns="68072" rtlCol="0" anchor="ctr">
            <a:spAutoFit/>
          </a:bodyPr>
          <a:lstStyle/>
          <a:p>
            <a:pPr algn="l" indent="0" marL="0">
              <a:lnSpc>
                <a:spcPct val="108000"/>
              </a:lnSpc>
              <a:buNone/>
            </a:pPr>
            <a:r>
              <a:rPr lang="en-US" sz="900" dirty="0">
                <a:solidFill>
                  <a:srgbClr val="64FFDA"/>
                </a:solidFill>
                <a:latin typeface="Inter" pitchFamily="34" charset="0"/>
                <a:ea typeface="Inter" pitchFamily="34" charset="-122"/>
                <a:cs typeface="Inter" pitchFamily="34" charset="-120"/>
              </a:rPr>
              <a:t>Jumper Wires &amp; Breadboard</a:t>
            </a:r>
            <a:endParaRPr lang="en-US" sz="900" dirty="0"/>
          </a:p>
        </p:txBody>
      </p:sp>
      <p:sp>
        <p:nvSpPr>
          <p:cNvPr id="26" name="Text 22"/>
          <p:cNvSpPr/>
          <p:nvPr/>
        </p:nvSpPr>
        <p:spPr>
          <a:xfrm>
            <a:off x="2823930" y="3278032"/>
            <a:ext cx="5143891" cy="295015"/>
          </a:xfrm>
          <a:prstGeom prst="rect">
            <a:avLst/>
          </a:prstGeom>
          <a:noFill/>
          <a:ln/>
        </p:spPr>
        <p:txBody>
          <a:bodyPr wrap="square" lIns="136017" tIns="68072" rIns="136017" bIns="68072" rtlCol="0" anchor="ctr">
            <a:spAutoFit/>
          </a:bodyPr>
          <a:lstStyle/>
          <a:p>
            <a:pPr algn="l" indent="0" marL="0">
              <a:lnSpc>
                <a:spcPct val="108000"/>
              </a:lnSpc>
              <a:buNone/>
            </a:pPr>
            <a:r>
              <a:rPr lang="en-US" sz="950" dirty="0">
                <a:solidFill>
                  <a:srgbClr val="FFFFFF"/>
                </a:solidFill>
                <a:latin typeface="Inter" pitchFamily="34" charset="0"/>
                <a:ea typeface="Inter" pitchFamily="34" charset="-122"/>
                <a:cs typeface="Inter" pitchFamily="34" charset="-120"/>
              </a:rPr>
              <a:t>Used for making secure electrical connections between components.</a:t>
            </a:r>
            <a:endParaRPr lang="en-US" sz="950" dirty="0"/>
          </a:p>
        </p:txBody>
      </p:sp>
      <p:sp>
        <p:nvSpPr>
          <p:cNvPr id="27" name="Text 23"/>
          <p:cNvSpPr/>
          <p:nvPr/>
        </p:nvSpPr>
        <p:spPr>
          <a:xfrm>
            <a:off x="7967821" y="3278032"/>
            <a:ext cx="597536" cy="295015"/>
          </a:xfrm>
          <a:prstGeom prst="rect">
            <a:avLst/>
          </a:prstGeom>
          <a:noFill/>
          <a:ln/>
        </p:spPr>
        <p:txBody>
          <a:bodyPr wrap="square" lIns="136017" tIns="68072" rIns="136017" bIns="68072" rtlCol="0" anchor="ctr">
            <a:spAutoFit/>
          </a:bodyPr>
          <a:lstStyle/>
          <a:p>
            <a:pPr algn="ctr" indent="0" marL="0">
              <a:lnSpc>
                <a:spcPct val="108000"/>
              </a:lnSpc>
              <a:buNone/>
            </a:pPr>
            <a:r>
              <a:rPr lang="en-US" sz="950" dirty="0">
                <a:solidFill>
                  <a:srgbClr val="FFFFFF"/>
                </a:solidFill>
                <a:latin typeface="Inter" pitchFamily="34" charset="0"/>
                <a:ea typeface="Inter" pitchFamily="34" charset="-122"/>
                <a:cs typeface="Inter" pitchFamily="34" charset="-120"/>
              </a:rPr>
              <a:t>1 Set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Text 0"/>
          <p:cNvSpPr/>
          <p:nvPr/>
        </p:nvSpPr>
        <p:spPr>
          <a:xfrm>
            <a:off x="578644" y="570356"/>
            <a:ext cx="3191470"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System Architecture</a:t>
            </a:r>
            <a:endParaRPr lang="en-US" sz="2450" dirty="0"/>
          </a:p>
        </p:txBody>
      </p:sp>
      <p:pic>
        <p:nvPicPr>
          <p:cNvPr id="5" name="Image 1" descr="preencoded.png">    </p:cNvPr>
          <p:cNvPicPr>
            <a:picLocks noChangeAspect="1"/>
          </p:cNvPicPr>
          <p:nvPr/>
        </p:nvPicPr>
        <p:blipFill>
          <a:blip r:embed="rId2"/>
          <a:stretch>
            <a:fillRect/>
          </a:stretch>
        </p:blipFill>
        <p:spPr>
          <a:xfrm>
            <a:off x="1707356" y="1490756"/>
            <a:ext cx="5729288" cy="1443038"/>
          </a:xfrm>
          <a:prstGeom prst="rect">
            <a:avLst/>
          </a:prstGeom>
        </p:spPr>
      </p:pic>
      <p:sp>
        <p:nvSpPr>
          <p:cNvPr id="6" name="Text 1"/>
          <p:cNvSpPr/>
          <p:nvPr/>
        </p:nvSpPr>
        <p:spPr>
          <a:xfrm>
            <a:off x="292894" y="3033806"/>
            <a:ext cx="137517" cy="154288"/>
          </a:xfrm>
          <a:prstGeom prst="rect">
            <a:avLst/>
          </a:prstGeom>
          <a:noFill/>
          <a:ln/>
        </p:spPr>
        <p:txBody>
          <a:bodyPr wrap="none" lIns="0" tIns="0" rIns="0" bIns="0" rtlCol="0" anchor="t">
            <a:spAutoFit/>
          </a:bodyPr>
          <a:lstStyle/>
          <a:p>
            <a:pPr algn="l" indent="0" marL="0">
              <a:lnSpc>
                <a:spcPct val="96000"/>
              </a:lnSpc>
              <a:buNone/>
            </a:pPr>
            <a:r>
              <a:rPr lang="en-US" sz="900" b="1" dirty="0">
                <a:solidFill>
                  <a:srgbClr val="64FFDA"/>
                </a:solidFill>
                <a:latin typeface="Space Grotesk Medium" pitchFamily="34" charset="0"/>
                <a:ea typeface="Space Grotesk Medium" pitchFamily="34" charset="-122"/>
                <a:cs typeface="Space Grotesk Medium" pitchFamily="34" charset="-120"/>
              </a:rPr>
              <a:t>01</a:t>
            </a:r>
            <a:endParaRPr lang="en-US" sz="900" dirty="0"/>
          </a:p>
        </p:txBody>
      </p:sp>
      <p:sp>
        <p:nvSpPr>
          <p:cNvPr id="7" name="Text 2"/>
          <p:cNvSpPr/>
          <p:nvPr/>
        </p:nvSpPr>
        <p:spPr>
          <a:xfrm>
            <a:off x="487561" y="3033806"/>
            <a:ext cx="4046934" cy="154288"/>
          </a:xfrm>
          <a:prstGeom prst="rect">
            <a:avLst/>
          </a:prstGeom>
          <a:noFill/>
          <a:ln/>
        </p:spPr>
        <p:txBody>
          <a:bodyPr wrap="none" lIns="0" tIns="0" rIns="0" bIns="0" rtlCol="0" anchor="t">
            <a:spAutoFit/>
          </a:bodyPr>
          <a:lstStyle/>
          <a:p>
            <a:pPr algn="l" indent="0" marL="0">
              <a:lnSpc>
                <a:spcPct val="96000"/>
              </a:lnSpc>
              <a:buNone/>
            </a:pPr>
            <a:r>
              <a:rPr lang="en-US" sz="900" dirty="0">
                <a:solidFill>
                  <a:srgbClr val="64FFDA"/>
                </a:solidFill>
                <a:latin typeface="Inter" pitchFamily="34" charset="0"/>
                <a:ea typeface="Inter" pitchFamily="34" charset="-122"/>
                <a:cs typeface="Inter" pitchFamily="34" charset="-120"/>
              </a:rPr>
              <a:t>Voice Assistants:</a:t>
            </a:r>
            <a:r>
              <a:rPr lang="en-US" sz="950" dirty="0">
                <a:solidFill>
                  <a:srgbClr val="FFFFFF"/>
                </a:solidFill>
                <a:latin typeface="Inter" pitchFamily="34" charset="0"/>
                <a:ea typeface="Inter" pitchFamily="34" charset="-122"/>
                <a:cs typeface="Inter" pitchFamily="34" charset="-120"/>
              </a:rPr>
              <a:t> Capture voice commands and send to the cloud.</a:t>
            </a:r>
            <a:endParaRPr lang="en-US" sz="900" dirty="0"/>
          </a:p>
        </p:txBody>
      </p:sp>
      <p:sp>
        <p:nvSpPr>
          <p:cNvPr id="8" name="Text 3"/>
          <p:cNvSpPr/>
          <p:nvPr/>
        </p:nvSpPr>
        <p:spPr>
          <a:xfrm>
            <a:off x="4600575" y="3033806"/>
            <a:ext cx="158948" cy="154288"/>
          </a:xfrm>
          <a:prstGeom prst="rect">
            <a:avLst/>
          </a:prstGeom>
          <a:noFill/>
          <a:ln/>
        </p:spPr>
        <p:txBody>
          <a:bodyPr wrap="none" lIns="0" tIns="0" rIns="0" bIns="0" rtlCol="0" anchor="t">
            <a:spAutoFit/>
          </a:bodyPr>
          <a:lstStyle/>
          <a:p>
            <a:pPr algn="l" indent="0" marL="0">
              <a:lnSpc>
                <a:spcPct val="96000"/>
              </a:lnSpc>
              <a:buNone/>
            </a:pPr>
            <a:r>
              <a:rPr lang="en-US" sz="900" b="1" dirty="0">
                <a:solidFill>
                  <a:srgbClr val="64FFDA"/>
                </a:solidFill>
                <a:latin typeface="Space Grotesk Medium" pitchFamily="34" charset="0"/>
                <a:ea typeface="Space Grotesk Medium" pitchFamily="34" charset="-122"/>
                <a:cs typeface="Space Grotesk Medium" pitchFamily="34" charset="-120"/>
              </a:rPr>
              <a:t>02</a:t>
            </a:r>
            <a:endParaRPr lang="en-US" sz="900" dirty="0"/>
          </a:p>
        </p:txBody>
      </p:sp>
      <p:sp>
        <p:nvSpPr>
          <p:cNvPr id="9" name="Text 4"/>
          <p:cNvSpPr/>
          <p:nvPr/>
        </p:nvSpPr>
        <p:spPr>
          <a:xfrm>
            <a:off x="4816673" y="3033806"/>
            <a:ext cx="3679031" cy="154288"/>
          </a:xfrm>
          <a:prstGeom prst="rect">
            <a:avLst/>
          </a:prstGeom>
          <a:noFill/>
          <a:ln/>
        </p:spPr>
        <p:txBody>
          <a:bodyPr wrap="none" lIns="0" tIns="0" rIns="0" bIns="0" rtlCol="0" anchor="t">
            <a:spAutoFit/>
          </a:bodyPr>
          <a:lstStyle/>
          <a:p>
            <a:pPr algn="l" indent="0" marL="0">
              <a:lnSpc>
                <a:spcPct val="96000"/>
              </a:lnSpc>
              <a:buNone/>
            </a:pPr>
            <a:r>
              <a:rPr lang="en-US" sz="900" dirty="0">
                <a:solidFill>
                  <a:srgbClr val="64FFDA"/>
                </a:solidFill>
                <a:latin typeface="Inter" pitchFamily="34" charset="0"/>
                <a:ea typeface="Inter" pitchFamily="34" charset="-122"/>
                <a:cs typeface="Inter" pitchFamily="34" charset="-120"/>
              </a:rPr>
              <a:t>Sinric Pro Cloud:</a:t>
            </a:r>
            <a:r>
              <a:rPr lang="en-US" sz="950" dirty="0">
                <a:solidFill>
                  <a:srgbClr val="FFFFFF"/>
                </a:solidFill>
                <a:latin typeface="Inter" pitchFamily="34" charset="0"/>
                <a:ea typeface="Inter" pitchFamily="34" charset="-122"/>
                <a:cs typeface="Inter" pitchFamily="34" charset="-120"/>
              </a:rPr>
              <a:t> Central IoT bridge managing device states.</a:t>
            </a:r>
            <a:endParaRPr lang="en-US" sz="900" dirty="0"/>
          </a:p>
        </p:txBody>
      </p:sp>
      <p:sp>
        <p:nvSpPr>
          <p:cNvPr id="10" name="Text 5"/>
          <p:cNvSpPr/>
          <p:nvPr/>
        </p:nvSpPr>
        <p:spPr>
          <a:xfrm>
            <a:off x="292894" y="3330969"/>
            <a:ext cx="160734" cy="154288"/>
          </a:xfrm>
          <a:prstGeom prst="rect">
            <a:avLst/>
          </a:prstGeom>
          <a:noFill/>
          <a:ln/>
        </p:spPr>
        <p:txBody>
          <a:bodyPr wrap="none" lIns="0" tIns="0" rIns="0" bIns="0" rtlCol="0" anchor="t">
            <a:spAutoFit/>
          </a:bodyPr>
          <a:lstStyle/>
          <a:p>
            <a:pPr algn="l" indent="0" marL="0">
              <a:lnSpc>
                <a:spcPct val="96000"/>
              </a:lnSpc>
              <a:buNone/>
            </a:pPr>
            <a:r>
              <a:rPr lang="en-US" sz="900" b="1" dirty="0">
                <a:solidFill>
                  <a:srgbClr val="64FFDA"/>
                </a:solidFill>
                <a:latin typeface="Space Grotesk Medium" pitchFamily="34" charset="0"/>
                <a:ea typeface="Space Grotesk Medium" pitchFamily="34" charset="-122"/>
                <a:cs typeface="Space Grotesk Medium" pitchFamily="34" charset="-120"/>
              </a:rPr>
              <a:t>03</a:t>
            </a:r>
            <a:endParaRPr lang="en-US" sz="900" dirty="0"/>
          </a:p>
        </p:txBody>
      </p:sp>
      <p:sp>
        <p:nvSpPr>
          <p:cNvPr id="11" name="Text 6"/>
          <p:cNvSpPr/>
          <p:nvPr/>
        </p:nvSpPr>
        <p:spPr>
          <a:xfrm>
            <a:off x="510778" y="3330969"/>
            <a:ext cx="3989784" cy="154288"/>
          </a:xfrm>
          <a:prstGeom prst="rect">
            <a:avLst/>
          </a:prstGeom>
          <a:noFill/>
          <a:ln/>
        </p:spPr>
        <p:txBody>
          <a:bodyPr wrap="none" lIns="0" tIns="0" rIns="0" bIns="0" rtlCol="0" anchor="t">
            <a:spAutoFit/>
          </a:bodyPr>
          <a:lstStyle/>
          <a:p>
            <a:pPr algn="l" indent="0" marL="0">
              <a:lnSpc>
                <a:spcPct val="96000"/>
              </a:lnSpc>
              <a:buNone/>
            </a:pPr>
            <a:r>
              <a:rPr lang="en-US" sz="900" dirty="0">
                <a:solidFill>
                  <a:srgbClr val="64FFDA"/>
                </a:solidFill>
                <a:latin typeface="Inter" pitchFamily="34" charset="0"/>
                <a:ea typeface="Inter" pitchFamily="34" charset="-122"/>
                <a:cs typeface="Inter" pitchFamily="34" charset="-120"/>
              </a:rPr>
              <a:t>NodeMCU ESP8266:</a:t>
            </a:r>
            <a:r>
              <a:rPr lang="en-US" sz="950" dirty="0">
                <a:solidFill>
                  <a:srgbClr val="FFFFFF"/>
                </a:solidFill>
                <a:latin typeface="Inter" pitchFamily="34" charset="0"/>
                <a:ea typeface="Inter" pitchFamily="34" charset="-122"/>
                <a:cs typeface="Inter" pitchFamily="34" charset="-120"/>
              </a:rPr>
              <a:t> WebSocket client that executes commands.</a:t>
            </a:r>
            <a:endParaRPr lang="en-US" sz="900" dirty="0"/>
          </a:p>
        </p:txBody>
      </p:sp>
      <p:sp>
        <p:nvSpPr>
          <p:cNvPr id="12" name="Text 7"/>
          <p:cNvSpPr/>
          <p:nvPr/>
        </p:nvSpPr>
        <p:spPr>
          <a:xfrm>
            <a:off x="4600575" y="3330969"/>
            <a:ext cx="162520" cy="154288"/>
          </a:xfrm>
          <a:prstGeom prst="rect">
            <a:avLst/>
          </a:prstGeom>
          <a:noFill/>
          <a:ln/>
        </p:spPr>
        <p:txBody>
          <a:bodyPr wrap="none" lIns="0" tIns="0" rIns="0" bIns="0" rtlCol="0" anchor="t">
            <a:spAutoFit/>
          </a:bodyPr>
          <a:lstStyle/>
          <a:p>
            <a:pPr algn="l" indent="0" marL="0">
              <a:lnSpc>
                <a:spcPct val="96000"/>
              </a:lnSpc>
              <a:buNone/>
            </a:pPr>
            <a:r>
              <a:rPr lang="en-US" sz="900" b="1" dirty="0">
                <a:solidFill>
                  <a:srgbClr val="64FFDA"/>
                </a:solidFill>
                <a:latin typeface="Space Grotesk Medium" pitchFamily="34" charset="0"/>
                <a:ea typeface="Space Grotesk Medium" pitchFamily="34" charset="-122"/>
                <a:cs typeface="Space Grotesk Medium" pitchFamily="34" charset="-120"/>
              </a:rPr>
              <a:t>04</a:t>
            </a:r>
            <a:endParaRPr lang="en-US" sz="900" dirty="0"/>
          </a:p>
        </p:txBody>
      </p:sp>
      <p:sp>
        <p:nvSpPr>
          <p:cNvPr id="13" name="Text 8"/>
          <p:cNvSpPr/>
          <p:nvPr/>
        </p:nvSpPr>
        <p:spPr>
          <a:xfrm>
            <a:off x="4820245" y="3330969"/>
            <a:ext cx="3554016" cy="154288"/>
          </a:xfrm>
          <a:prstGeom prst="rect">
            <a:avLst/>
          </a:prstGeom>
          <a:noFill/>
          <a:ln/>
        </p:spPr>
        <p:txBody>
          <a:bodyPr wrap="none" lIns="0" tIns="0" rIns="0" bIns="0" rtlCol="0" anchor="t">
            <a:spAutoFit/>
          </a:bodyPr>
          <a:lstStyle/>
          <a:p>
            <a:pPr algn="l" indent="0" marL="0">
              <a:lnSpc>
                <a:spcPct val="96000"/>
              </a:lnSpc>
              <a:buNone/>
            </a:pPr>
            <a:r>
              <a:rPr lang="en-US" sz="900" dirty="0">
                <a:solidFill>
                  <a:srgbClr val="64FFDA"/>
                </a:solidFill>
                <a:latin typeface="Inter" pitchFamily="34" charset="0"/>
                <a:ea typeface="Inter" pitchFamily="34" charset="-122"/>
                <a:cs typeface="Inter" pitchFamily="34" charset="-120"/>
              </a:rPr>
              <a:t>Relay Module:</a:t>
            </a:r>
            <a:r>
              <a:rPr lang="en-US" sz="950" dirty="0">
                <a:solidFill>
                  <a:srgbClr val="FFFFFF"/>
                </a:solidFill>
                <a:latin typeface="Inter" pitchFamily="34" charset="0"/>
                <a:ea typeface="Inter" pitchFamily="34" charset="-122"/>
                <a:cs typeface="Inter" pitchFamily="34" charset="-120"/>
              </a:rPr>
              <a:t> Provides isolation and switches appliances.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635794" y="634650"/>
            <a:ext cx="5032772"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Circuit Diagram &amp; Connections</a:t>
            </a:r>
            <a:endParaRPr lang="en-US" sz="2450" dirty="0"/>
          </a:p>
        </p:txBody>
      </p:sp>
      <p:sp>
        <p:nvSpPr>
          <p:cNvPr id="5" name="Shape 1"/>
          <p:cNvSpPr/>
          <p:nvPr/>
        </p:nvSpPr>
        <p:spPr>
          <a:xfrm>
            <a:off x="635794" y="1341593"/>
            <a:ext cx="3208716" cy="776492"/>
          </a:xfrm>
          <a:prstGeom prst="rect">
            <a:avLst/>
          </a:prstGeom>
          <a:solidFill>
            <a:srgbClr val="172A45"/>
          </a:solidFill>
          <a:ln w="9144">
            <a:solidFill>
              <a:srgbClr val="64FFDA">
                <a:alpha val="10000"/>
              </a:srgbClr>
            </a:solidFill>
            <a:prstDash val="solid"/>
          </a:ln>
        </p:spPr>
      </p:sp>
      <p:sp>
        <p:nvSpPr>
          <p:cNvPr id="6" name="Text 2"/>
          <p:cNvSpPr/>
          <p:nvPr/>
        </p:nvSpPr>
        <p:spPr>
          <a:xfrm>
            <a:off x="721519" y="1398743"/>
            <a:ext cx="257175" cy="291108"/>
          </a:xfrm>
          <a:prstGeom prst="rect">
            <a:avLst/>
          </a:prstGeom>
          <a:noFill/>
          <a:ln/>
        </p:spPr>
        <p:txBody>
          <a:bodyPr wrap="none" lIns="0" tIns="0" rIns="0" bIns="0" rtlCol="0" anchor="t">
            <a:spAutoFit/>
          </a:bodyPr>
          <a:lstStyle/>
          <a:p>
            <a:pPr algn="l" indent="0" marL="0">
              <a:buNone/>
            </a:pPr>
            <a:r>
              <a:rPr lang="en-US" sz="1600" b="1" dirty="0">
                <a:solidFill>
                  <a:srgbClr val="64FFDA"/>
                </a:solidFill>
                <a:latin typeface="Space Grotesk Medium" pitchFamily="34" charset="0"/>
                <a:ea typeface="Space Grotesk Medium" pitchFamily="34" charset="-122"/>
                <a:cs typeface="Space Grotesk Medium" pitchFamily="34" charset="-120"/>
              </a:rPr>
              <a:t>1</a:t>
            </a:r>
            <a:endParaRPr lang="en-US" sz="1600" dirty="0"/>
          </a:p>
        </p:txBody>
      </p:sp>
      <p:sp>
        <p:nvSpPr>
          <p:cNvPr id="7" name="Text 3"/>
          <p:cNvSpPr/>
          <p:nvPr/>
        </p:nvSpPr>
        <p:spPr>
          <a:xfrm>
            <a:off x="1064419" y="1541618"/>
            <a:ext cx="2694366" cy="182166"/>
          </a:xfrm>
          <a:prstGeom prst="rect">
            <a:avLst/>
          </a:prstGeom>
          <a:noFill/>
          <a:ln/>
        </p:spPr>
        <p:txBody>
          <a:bodyPr wrap="square" lIns="0" tIns="0" rIns="0" bIns="0" rtlCol="0" anchor="t">
            <a:spAutoFit/>
          </a:bodyPr>
          <a:lstStyle/>
          <a:p>
            <a:pPr algn="l" indent="0" marL="0">
              <a:buNone/>
            </a:pPr>
            <a:r>
              <a:rPr lang="en-US" sz="1000" b="1" spc="1" kern="0" dirty="0">
                <a:solidFill>
                  <a:srgbClr val="64FFDA"/>
                </a:solidFill>
                <a:latin typeface="Space Grotesk Medium" pitchFamily="34" charset="0"/>
                <a:ea typeface="Space Grotesk Medium" pitchFamily="34" charset="-122"/>
                <a:cs typeface="Space Grotesk Medium" pitchFamily="34" charset="-120"/>
              </a:rPr>
              <a:t>RELAY CONNECTIONS</a:t>
            </a:r>
            <a:endParaRPr lang="en-US" sz="1000" dirty="0"/>
          </a:p>
        </p:txBody>
      </p:sp>
      <p:sp>
        <p:nvSpPr>
          <p:cNvPr id="8" name="Text 4"/>
          <p:cNvSpPr/>
          <p:nvPr/>
        </p:nvSpPr>
        <p:spPr>
          <a:xfrm>
            <a:off x="1064419" y="1738071"/>
            <a:ext cx="2694366" cy="308577"/>
          </a:xfrm>
          <a:prstGeom prst="rect">
            <a:avLst/>
          </a:prstGeom>
          <a:noFill/>
          <a:ln/>
        </p:spPr>
        <p:txBody>
          <a:bodyPr wrap="square" lIns="0" tIns="0" rIns="0" bIns="0" rtlCol="0" anchor="t">
            <a:spAutoFit/>
          </a:bodyPr>
          <a:lstStyle/>
          <a:p>
            <a:pPr algn="l" indent="0" marL="0">
              <a:lnSpc>
                <a:spcPct val="108000"/>
              </a:lnSpc>
              <a:buNone/>
            </a:pPr>
            <a:r>
              <a:rPr lang="en-US" sz="850" dirty="0">
                <a:solidFill>
                  <a:srgbClr val="E6F1FF"/>
                </a:solidFill>
                <a:latin typeface="Inter" pitchFamily="34" charset="0"/>
                <a:ea typeface="Inter" pitchFamily="34" charset="-122"/>
                <a:cs typeface="Inter" pitchFamily="34" charset="-120"/>
              </a:rPr>
              <a:t>Connect NodeMCU D1/D2/D5/D6 to Relay IN1–IN4 for appliance control.</a:t>
            </a:r>
            <a:endParaRPr lang="en-US" sz="850" dirty="0"/>
          </a:p>
        </p:txBody>
      </p:sp>
      <p:sp>
        <p:nvSpPr>
          <p:cNvPr id="9" name="Shape 5"/>
          <p:cNvSpPr/>
          <p:nvPr/>
        </p:nvSpPr>
        <p:spPr>
          <a:xfrm>
            <a:off x="635794" y="2374881"/>
            <a:ext cx="3208716" cy="776492"/>
          </a:xfrm>
          <a:prstGeom prst="rect">
            <a:avLst/>
          </a:prstGeom>
          <a:solidFill>
            <a:srgbClr val="172A45"/>
          </a:solidFill>
          <a:ln w="9144">
            <a:solidFill>
              <a:srgbClr val="64FFDA">
                <a:alpha val="10000"/>
              </a:srgbClr>
            </a:solidFill>
            <a:prstDash val="solid"/>
          </a:ln>
        </p:spPr>
      </p:sp>
      <p:sp>
        <p:nvSpPr>
          <p:cNvPr id="10" name="Text 6"/>
          <p:cNvSpPr/>
          <p:nvPr/>
        </p:nvSpPr>
        <p:spPr>
          <a:xfrm>
            <a:off x="721519" y="2432031"/>
            <a:ext cx="257175" cy="291108"/>
          </a:xfrm>
          <a:prstGeom prst="rect">
            <a:avLst/>
          </a:prstGeom>
          <a:noFill/>
          <a:ln/>
        </p:spPr>
        <p:txBody>
          <a:bodyPr wrap="none" lIns="0" tIns="0" rIns="0" bIns="0" rtlCol="0" anchor="t">
            <a:spAutoFit/>
          </a:bodyPr>
          <a:lstStyle/>
          <a:p>
            <a:pPr algn="l" indent="0" marL="0">
              <a:buNone/>
            </a:pPr>
            <a:r>
              <a:rPr lang="en-US" sz="1600" b="1" dirty="0">
                <a:solidFill>
                  <a:srgbClr val="64FFDA"/>
                </a:solidFill>
                <a:latin typeface="Space Grotesk Medium" pitchFamily="34" charset="0"/>
                <a:ea typeface="Space Grotesk Medium" pitchFamily="34" charset="-122"/>
                <a:cs typeface="Space Grotesk Medium" pitchFamily="34" charset="-120"/>
              </a:rPr>
              <a:t>2</a:t>
            </a:r>
            <a:endParaRPr lang="en-US" sz="1600" dirty="0"/>
          </a:p>
        </p:txBody>
      </p:sp>
      <p:sp>
        <p:nvSpPr>
          <p:cNvPr id="11" name="Text 7"/>
          <p:cNvSpPr/>
          <p:nvPr/>
        </p:nvSpPr>
        <p:spPr>
          <a:xfrm>
            <a:off x="1064419" y="2574906"/>
            <a:ext cx="2694366" cy="182166"/>
          </a:xfrm>
          <a:prstGeom prst="rect">
            <a:avLst/>
          </a:prstGeom>
          <a:noFill/>
          <a:ln/>
        </p:spPr>
        <p:txBody>
          <a:bodyPr wrap="square" lIns="0" tIns="0" rIns="0" bIns="0" rtlCol="0" anchor="t">
            <a:spAutoFit/>
          </a:bodyPr>
          <a:lstStyle/>
          <a:p>
            <a:pPr algn="l" indent="0" marL="0">
              <a:buNone/>
            </a:pPr>
            <a:r>
              <a:rPr lang="en-US" sz="1000" b="1" spc="1" kern="0" dirty="0">
                <a:solidFill>
                  <a:srgbClr val="64FFDA"/>
                </a:solidFill>
                <a:latin typeface="Space Grotesk Medium" pitchFamily="34" charset="0"/>
                <a:ea typeface="Space Grotesk Medium" pitchFamily="34" charset="-122"/>
                <a:cs typeface="Space Grotesk Medium" pitchFamily="34" charset="-120"/>
              </a:rPr>
              <a:t>POWER &amp; GROUND</a:t>
            </a:r>
            <a:endParaRPr lang="en-US" sz="1000" dirty="0"/>
          </a:p>
        </p:txBody>
      </p:sp>
      <p:sp>
        <p:nvSpPr>
          <p:cNvPr id="12" name="Text 8"/>
          <p:cNvSpPr/>
          <p:nvPr/>
        </p:nvSpPr>
        <p:spPr>
          <a:xfrm>
            <a:off x="1064419" y="2771359"/>
            <a:ext cx="2694366" cy="308577"/>
          </a:xfrm>
          <a:prstGeom prst="rect">
            <a:avLst/>
          </a:prstGeom>
          <a:noFill/>
          <a:ln/>
        </p:spPr>
        <p:txBody>
          <a:bodyPr wrap="square" lIns="0" tIns="0" rIns="0" bIns="0" rtlCol="0" anchor="t">
            <a:spAutoFit/>
          </a:bodyPr>
          <a:lstStyle/>
          <a:p>
            <a:pPr algn="l" indent="0" marL="0">
              <a:lnSpc>
                <a:spcPct val="108000"/>
              </a:lnSpc>
              <a:buNone/>
            </a:pPr>
            <a:r>
              <a:rPr lang="en-US" sz="850" dirty="0">
                <a:solidFill>
                  <a:srgbClr val="E6F1FF"/>
                </a:solidFill>
                <a:latin typeface="Inter" pitchFamily="34" charset="0"/>
                <a:ea typeface="Inter" pitchFamily="34" charset="-122"/>
                <a:cs typeface="Inter" pitchFamily="34" charset="-120"/>
              </a:rPr>
              <a:t>Use a regulated 5V DC for NodeMCU VIN and Relay VCC; share common GND.</a:t>
            </a:r>
            <a:endParaRPr lang="en-US" sz="850" dirty="0"/>
          </a:p>
        </p:txBody>
      </p:sp>
      <p:sp>
        <p:nvSpPr>
          <p:cNvPr id="13" name="Shape 9"/>
          <p:cNvSpPr/>
          <p:nvPr/>
        </p:nvSpPr>
        <p:spPr>
          <a:xfrm>
            <a:off x="635794" y="3291491"/>
            <a:ext cx="3208716" cy="1115820"/>
          </a:xfrm>
          <a:prstGeom prst="rect">
            <a:avLst/>
          </a:prstGeom>
          <a:solidFill>
            <a:srgbClr val="172A45"/>
          </a:solidFill>
          <a:ln w="9144">
            <a:solidFill>
              <a:srgbClr val="64FFDA">
                <a:alpha val="10000"/>
              </a:srgbClr>
            </a:solidFill>
            <a:prstDash val="solid"/>
          </a:ln>
        </p:spPr>
      </p:sp>
      <p:sp>
        <p:nvSpPr>
          <p:cNvPr id="14" name="Text 10"/>
          <p:cNvSpPr/>
          <p:nvPr/>
        </p:nvSpPr>
        <p:spPr>
          <a:xfrm>
            <a:off x="721519" y="3348641"/>
            <a:ext cx="257175" cy="291108"/>
          </a:xfrm>
          <a:prstGeom prst="rect">
            <a:avLst/>
          </a:prstGeom>
          <a:noFill/>
          <a:ln/>
        </p:spPr>
        <p:txBody>
          <a:bodyPr wrap="none" lIns="0" tIns="0" rIns="0" bIns="0" rtlCol="0" anchor="t">
            <a:spAutoFit/>
          </a:bodyPr>
          <a:lstStyle/>
          <a:p>
            <a:pPr algn="l" indent="0" marL="0">
              <a:buNone/>
            </a:pPr>
            <a:r>
              <a:rPr lang="en-US" sz="1600" b="1" dirty="0">
                <a:solidFill>
                  <a:srgbClr val="64FFDA"/>
                </a:solidFill>
                <a:latin typeface="Space Grotesk Medium" pitchFamily="34" charset="0"/>
                <a:ea typeface="Space Grotesk Medium" pitchFamily="34" charset="-122"/>
                <a:cs typeface="Space Grotesk Medium" pitchFamily="34" charset="-120"/>
              </a:rPr>
              <a:t>3</a:t>
            </a:r>
            <a:endParaRPr lang="en-US" sz="1600" dirty="0"/>
          </a:p>
        </p:txBody>
      </p:sp>
      <p:sp>
        <p:nvSpPr>
          <p:cNvPr id="15" name="Text 11"/>
          <p:cNvSpPr/>
          <p:nvPr/>
        </p:nvSpPr>
        <p:spPr>
          <a:xfrm>
            <a:off x="1064419" y="3491516"/>
            <a:ext cx="2694366" cy="182165"/>
          </a:xfrm>
          <a:prstGeom prst="rect">
            <a:avLst/>
          </a:prstGeom>
          <a:noFill/>
          <a:ln/>
        </p:spPr>
        <p:txBody>
          <a:bodyPr wrap="square" lIns="0" tIns="0" rIns="0" bIns="0" rtlCol="0" anchor="t">
            <a:spAutoFit/>
          </a:bodyPr>
          <a:lstStyle/>
          <a:p>
            <a:pPr algn="l" indent="0" marL="0">
              <a:buNone/>
            </a:pPr>
            <a:r>
              <a:rPr lang="en-US" sz="1000" b="1" spc="1" kern="0" dirty="0">
                <a:solidFill>
                  <a:srgbClr val="64FFDA"/>
                </a:solidFill>
                <a:latin typeface="Space Grotesk Medium" pitchFamily="34" charset="0"/>
                <a:ea typeface="Space Grotesk Medium" pitchFamily="34" charset="-122"/>
                <a:cs typeface="Space Grotesk Medium" pitchFamily="34" charset="-120"/>
              </a:rPr>
              <a:t>AC LOAD WIRING</a:t>
            </a:r>
            <a:endParaRPr lang="en-US" sz="1000" dirty="0"/>
          </a:p>
        </p:txBody>
      </p:sp>
      <p:sp>
        <p:nvSpPr>
          <p:cNvPr id="16" name="Text 12"/>
          <p:cNvSpPr/>
          <p:nvPr/>
        </p:nvSpPr>
        <p:spPr>
          <a:xfrm>
            <a:off x="1064419" y="3687969"/>
            <a:ext cx="2694366" cy="308577"/>
          </a:xfrm>
          <a:prstGeom prst="rect">
            <a:avLst/>
          </a:prstGeom>
          <a:noFill/>
          <a:ln/>
        </p:spPr>
        <p:txBody>
          <a:bodyPr wrap="square" lIns="0" tIns="0" rIns="0" bIns="0" rtlCol="0" anchor="t">
            <a:spAutoFit/>
          </a:bodyPr>
          <a:lstStyle/>
          <a:p>
            <a:pPr algn="l" indent="0" marL="0">
              <a:lnSpc>
                <a:spcPct val="108000"/>
              </a:lnSpc>
              <a:buNone/>
            </a:pPr>
            <a:r>
              <a:rPr lang="en-US" sz="850" dirty="0">
                <a:solidFill>
                  <a:srgbClr val="E6F1FF"/>
                </a:solidFill>
                <a:latin typeface="Inter" pitchFamily="34" charset="0"/>
                <a:ea typeface="Inter" pitchFamily="34" charset="-122"/>
                <a:cs typeface="Inter" pitchFamily="34" charset="-120"/>
              </a:rPr>
              <a:t>Switch the AC Live via Relay COM and NO to control appliances safely.</a:t>
            </a:r>
            <a:endParaRPr lang="en-US" sz="850" dirty="0"/>
          </a:p>
        </p:txBody>
      </p:sp>
      <p:sp>
        <p:nvSpPr>
          <p:cNvPr id="17" name="Text 13"/>
          <p:cNvSpPr/>
          <p:nvPr/>
        </p:nvSpPr>
        <p:spPr>
          <a:xfrm>
            <a:off x="1064419" y="4039408"/>
            <a:ext cx="2694366" cy="126802"/>
          </a:xfrm>
          <a:prstGeom prst="rect">
            <a:avLst/>
          </a:prstGeom>
          <a:noFill/>
          <a:ln/>
        </p:spPr>
        <p:txBody>
          <a:bodyPr wrap="square" lIns="0" tIns="0" rIns="0" bIns="0" rtlCol="0" anchor="t">
            <a:spAutoFit/>
          </a:bodyPr>
          <a:lstStyle/>
          <a:p>
            <a:pPr algn="l" indent="0" marL="0">
              <a:buNone/>
            </a:pPr>
            <a:r>
              <a:rPr lang="en-US" sz="750" dirty="0">
                <a:solidFill>
                  <a:srgbClr val="64FFDA">
                    <a:alpha val="95000"/>
                  </a:srgbClr>
                </a:solidFill>
                <a:latin typeface="Space Grotesk Medium" pitchFamily="34" charset="0"/>
                <a:ea typeface="Space Grotesk Medium" pitchFamily="34" charset="-122"/>
                <a:cs typeface="Space Grotesk Medium" pitchFamily="34" charset="-120"/>
              </a:rPr>
              <a:t>Quick Ref: D1:IN1, D2:IN2, D5:IN3, D6:IN4 | VCC:5V |</a:t>
            </a:r>
            <a:endParaRPr lang="en-US" sz="750" dirty="0"/>
          </a:p>
        </p:txBody>
      </p:sp>
      <p:sp>
        <p:nvSpPr>
          <p:cNvPr id="18" name="Text 14"/>
          <p:cNvSpPr/>
          <p:nvPr/>
        </p:nvSpPr>
        <p:spPr>
          <a:xfrm>
            <a:off x="1064419" y="4209072"/>
            <a:ext cx="2694366" cy="126802"/>
          </a:xfrm>
          <a:prstGeom prst="rect">
            <a:avLst/>
          </a:prstGeom>
          <a:noFill/>
          <a:ln/>
        </p:spPr>
        <p:txBody>
          <a:bodyPr wrap="square" lIns="0" tIns="0" rIns="0" bIns="0" rtlCol="0" anchor="t">
            <a:spAutoFit/>
          </a:bodyPr>
          <a:lstStyle/>
          <a:p>
            <a:pPr algn="l" indent="0" marL="0">
              <a:buNone/>
            </a:pPr>
            <a:r>
              <a:rPr lang="en-US" sz="750" dirty="0">
                <a:solidFill>
                  <a:srgbClr val="64FFDA">
                    <a:alpha val="95000"/>
                  </a:srgbClr>
                </a:solidFill>
                <a:latin typeface="Space Grotesk Medium" pitchFamily="34" charset="0"/>
                <a:ea typeface="Space Grotesk Medium" pitchFamily="34" charset="-122"/>
                <a:cs typeface="Space Grotesk Medium" pitchFamily="34" charset="-120"/>
              </a:rPr>
              <a:t>GND:Common</a:t>
            </a:r>
            <a:endParaRPr lang="en-US" sz="750" dirty="0"/>
          </a:p>
        </p:txBody>
      </p:sp>
      <p:sp>
        <p:nvSpPr>
          <p:cNvPr id="19" name="Shape 15"/>
          <p:cNvSpPr/>
          <p:nvPr/>
        </p:nvSpPr>
        <p:spPr>
          <a:xfrm>
            <a:off x="4215760" y="1792335"/>
            <a:ext cx="4492247" cy="2300288"/>
          </a:xfrm>
          <a:prstGeom prst="rect">
            <a:avLst/>
          </a:prstGeom>
          <a:solidFill>
            <a:srgbClr val="172A45">
              <a:alpha val="50000"/>
            </a:srgbClr>
          </a:solidFill>
          <a:ln/>
        </p:spPr>
      </p:sp>
      <p:pic>
        <p:nvPicPr>
          <p:cNvPr id="20" name="Image 1" descr="preencoded.png">    </p:cNvPr>
          <p:cNvPicPr>
            <a:picLocks noChangeAspect="1"/>
          </p:cNvPicPr>
          <p:nvPr/>
        </p:nvPicPr>
        <p:blipFill>
          <a:blip r:embed="rId2"/>
          <a:stretch>
            <a:fillRect/>
          </a:stretch>
        </p:blipFill>
        <p:spPr>
          <a:xfrm>
            <a:off x="4311649" y="1792337"/>
            <a:ext cx="4300537" cy="23002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588295" y="569877"/>
            <a:ext cx="3282553"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Full Circuit Diagram</a:t>
            </a:r>
            <a:endParaRPr lang="en-US" sz="2450" dirty="0"/>
          </a:p>
        </p:txBody>
      </p:sp>
      <p:pic>
        <p:nvPicPr>
          <p:cNvPr id="5" name="Image 1" descr="preencoded.png">    </p:cNvPr>
          <p:cNvPicPr>
            <a:picLocks noChangeAspect="1"/>
          </p:cNvPicPr>
          <p:nvPr/>
        </p:nvPicPr>
        <p:blipFill>
          <a:blip r:embed="rId2"/>
          <a:stretch>
            <a:fillRect/>
          </a:stretch>
        </p:blipFill>
        <p:spPr>
          <a:xfrm>
            <a:off x="1328734" y="1256775"/>
            <a:ext cx="6486525" cy="3343275"/>
          </a:xfrm>
          <a:prstGeom prst="rect">
            <a:avLst/>
          </a:prstGeom>
        </p:spPr>
      </p:pic>
      <p:sp>
        <p:nvSpPr>
          <p:cNvPr id="6" name="Text 1"/>
          <p:cNvSpPr/>
          <p:nvPr/>
        </p:nvSpPr>
        <p:spPr>
          <a:xfrm>
            <a:off x="1725251" y="4730102"/>
            <a:ext cx="5693569" cy="164306"/>
          </a:xfrm>
          <a:prstGeom prst="rect">
            <a:avLst/>
          </a:prstGeom>
          <a:noFill/>
          <a:ln/>
        </p:spPr>
        <p:txBody>
          <a:bodyPr wrap="square" lIns="0" tIns="0" rIns="0" bIns="0" rtlCol="0" anchor="t">
            <a:spAutoFit/>
          </a:bodyPr>
          <a:lstStyle/>
          <a:p>
            <a:pPr algn="l" indent="0" marL="0">
              <a:buNone/>
            </a:pPr>
            <a:r>
              <a:rPr lang="en-US" sz="950" spc="2" kern="0" dirty="0">
                <a:solidFill>
                  <a:srgbClr val="64FFDA"/>
                </a:solidFill>
                <a:latin typeface="Space Grotesk Medium" pitchFamily="34" charset="0"/>
                <a:ea typeface="Space Grotesk Medium" pitchFamily="34" charset="-122"/>
                <a:cs typeface="Space Grotesk Medium" pitchFamily="34" charset="-120"/>
              </a:rPr>
              <a:t>COMPLETE HARDWARE INTERFACING: NODEMCU, RELAY MODULE, AND AC LOADS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083427" y="173892"/>
            <a:ext cx="2896790"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Working Principle</a:t>
            </a:r>
            <a:endParaRPr lang="en-US" sz="2450" dirty="0"/>
          </a:p>
        </p:txBody>
      </p:sp>
      <p:sp>
        <p:nvSpPr>
          <p:cNvPr id="5" name="Shape 1"/>
          <p:cNvSpPr/>
          <p:nvPr/>
        </p:nvSpPr>
        <p:spPr>
          <a:xfrm>
            <a:off x="114272" y="807244"/>
            <a:ext cx="3850481" cy="999009"/>
          </a:xfrm>
          <a:prstGeom prst="rect">
            <a:avLst/>
          </a:prstGeom>
          <a:solidFill>
            <a:srgbClr val="172A45"/>
          </a:solidFill>
          <a:ln/>
        </p:spPr>
      </p:sp>
      <p:sp>
        <p:nvSpPr>
          <p:cNvPr id="6" name="Shape 2"/>
          <p:cNvSpPr/>
          <p:nvPr/>
        </p:nvSpPr>
        <p:spPr>
          <a:xfrm>
            <a:off x="114272" y="807244"/>
            <a:ext cx="28575" cy="999009"/>
          </a:xfrm>
          <a:prstGeom prst="rect">
            <a:avLst/>
          </a:prstGeom>
          <a:solidFill>
            <a:srgbClr val="64FFDA"/>
          </a:solidFill>
          <a:ln/>
        </p:spPr>
      </p:sp>
      <p:sp>
        <p:nvSpPr>
          <p:cNvPr id="7" name="Text 3"/>
          <p:cNvSpPr/>
          <p:nvPr/>
        </p:nvSpPr>
        <p:spPr>
          <a:xfrm>
            <a:off x="228572" y="1073348"/>
            <a:ext cx="466130" cy="126802"/>
          </a:xfrm>
          <a:prstGeom prst="rect">
            <a:avLst/>
          </a:prstGeom>
          <a:noFill/>
          <a:ln/>
        </p:spPr>
        <p:txBody>
          <a:bodyPr wrap="none" lIns="0" tIns="0" rIns="0" bIns="0" rtlCol="0" anchor="t">
            <a:spAutoFit/>
          </a:bodyPr>
          <a:lstStyle/>
          <a:p>
            <a:pPr algn="l" indent="0" marL="0">
              <a:buNone/>
            </a:pPr>
            <a:r>
              <a:rPr lang="en-US" sz="750" spc="2" kern="0" dirty="0">
                <a:solidFill>
                  <a:srgbClr val="64FFDA"/>
                </a:solidFill>
                <a:latin typeface="Space Grotesk Medium" pitchFamily="34" charset="0"/>
                <a:ea typeface="Space Grotesk Medium" pitchFamily="34" charset="-122"/>
                <a:cs typeface="Space Grotesk Medium" pitchFamily="34" charset="-120"/>
              </a:rPr>
              <a:t>STEP 01</a:t>
            </a:r>
            <a:endParaRPr lang="en-US" sz="750" dirty="0"/>
          </a:p>
        </p:txBody>
      </p:sp>
      <p:sp>
        <p:nvSpPr>
          <p:cNvPr id="8" name="Text 4"/>
          <p:cNvSpPr/>
          <p:nvPr/>
        </p:nvSpPr>
        <p:spPr>
          <a:xfrm>
            <a:off x="780427" y="1035844"/>
            <a:ext cx="1205508" cy="201811"/>
          </a:xfrm>
          <a:prstGeom prst="rect">
            <a:avLst/>
          </a:prstGeom>
          <a:noFill/>
          <a:ln/>
        </p:spPr>
        <p:txBody>
          <a:bodyPr wrap="none" lIns="0" tIns="0" rIns="0" bIns="0" rtlCol="0" anchor="t">
            <a:spAutoFit/>
          </a:bodyPr>
          <a:lstStyle/>
          <a:p>
            <a:pPr algn="l" indent="0" marL="0">
              <a:buNone/>
            </a:pPr>
            <a:r>
              <a:rPr lang="en-US" sz="1100" dirty="0">
                <a:solidFill>
                  <a:srgbClr val="FFFFFF"/>
                </a:solidFill>
                <a:latin typeface="Space Grotesk Medium" pitchFamily="34" charset="0"/>
                <a:ea typeface="Space Grotesk Medium" pitchFamily="34" charset="-122"/>
                <a:cs typeface="Space Grotesk Medium" pitchFamily="34" charset="-120"/>
              </a:rPr>
              <a:t>Voice Command</a:t>
            </a:r>
            <a:endParaRPr lang="en-US" sz="1100" dirty="0"/>
          </a:p>
        </p:txBody>
      </p:sp>
      <p:sp>
        <p:nvSpPr>
          <p:cNvPr id="9" name="Text 5"/>
          <p:cNvSpPr/>
          <p:nvPr/>
        </p:nvSpPr>
        <p:spPr>
          <a:xfrm>
            <a:off x="228572" y="1437680"/>
            <a:ext cx="3621881" cy="297135"/>
          </a:xfrm>
          <a:prstGeom prst="rect">
            <a:avLst/>
          </a:prstGeom>
          <a:noFill/>
          <a:ln/>
        </p:spPr>
        <p:txBody>
          <a:bodyPr wrap="square" lIns="0" tIns="0" rIns="0" bIns="0" rtlCol="0" anchor="t">
            <a:spAutoFit/>
          </a:bodyPr>
          <a:lstStyle/>
          <a:p>
            <a:pPr algn="l" indent="0" marL="0">
              <a:lnSpc>
                <a:spcPct val="104000"/>
              </a:lnSpc>
              <a:buNone/>
            </a:pPr>
            <a:r>
              <a:rPr lang="en-US" sz="850" dirty="0">
                <a:solidFill>
                  <a:srgbClr val="E6F1FF"/>
                </a:solidFill>
                <a:latin typeface="Inter" pitchFamily="34" charset="0"/>
                <a:ea typeface="Inter" pitchFamily="34" charset="-122"/>
                <a:cs typeface="Inter" pitchFamily="34" charset="-120"/>
              </a:rPr>
              <a:t>User issues a voice command (e.g., "Turn on the light") to a Google Home or Amazon Alexa device.</a:t>
            </a:r>
            <a:endParaRPr lang="en-US" sz="850" dirty="0"/>
          </a:p>
        </p:txBody>
      </p:sp>
      <p:sp>
        <p:nvSpPr>
          <p:cNvPr id="10" name="Shape 6"/>
          <p:cNvSpPr/>
          <p:nvPr/>
        </p:nvSpPr>
        <p:spPr>
          <a:xfrm>
            <a:off x="578644" y="1891978"/>
            <a:ext cx="3850481" cy="999009"/>
          </a:xfrm>
          <a:prstGeom prst="rect">
            <a:avLst/>
          </a:prstGeom>
          <a:solidFill>
            <a:srgbClr val="172A45"/>
          </a:solidFill>
          <a:ln/>
        </p:spPr>
      </p:sp>
      <p:sp>
        <p:nvSpPr>
          <p:cNvPr id="11" name="Shape 7"/>
          <p:cNvSpPr/>
          <p:nvPr/>
        </p:nvSpPr>
        <p:spPr>
          <a:xfrm>
            <a:off x="578644" y="1891978"/>
            <a:ext cx="28575" cy="999009"/>
          </a:xfrm>
          <a:prstGeom prst="rect">
            <a:avLst/>
          </a:prstGeom>
          <a:solidFill>
            <a:srgbClr val="64FFDA"/>
          </a:solidFill>
          <a:ln/>
        </p:spPr>
      </p:sp>
      <p:sp>
        <p:nvSpPr>
          <p:cNvPr id="12" name="Text 8"/>
          <p:cNvSpPr/>
          <p:nvPr/>
        </p:nvSpPr>
        <p:spPr>
          <a:xfrm>
            <a:off x="692944" y="2158082"/>
            <a:ext cx="482203" cy="126802"/>
          </a:xfrm>
          <a:prstGeom prst="rect">
            <a:avLst/>
          </a:prstGeom>
          <a:noFill/>
          <a:ln/>
        </p:spPr>
        <p:txBody>
          <a:bodyPr wrap="none" lIns="0" tIns="0" rIns="0" bIns="0" rtlCol="0" anchor="t">
            <a:spAutoFit/>
          </a:bodyPr>
          <a:lstStyle/>
          <a:p>
            <a:pPr algn="l" indent="0" marL="0">
              <a:buNone/>
            </a:pPr>
            <a:r>
              <a:rPr lang="en-US" sz="750" spc="2" kern="0" dirty="0">
                <a:solidFill>
                  <a:srgbClr val="64FFDA"/>
                </a:solidFill>
                <a:latin typeface="Space Grotesk Medium" pitchFamily="34" charset="0"/>
                <a:ea typeface="Space Grotesk Medium" pitchFamily="34" charset="-122"/>
                <a:cs typeface="Space Grotesk Medium" pitchFamily="34" charset="-120"/>
              </a:rPr>
              <a:t>STEP 02</a:t>
            </a:r>
            <a:endParaRPr lang="en-US" sz="750" dirty="0"/>
          </a:p>
        </p:txBody>
      </p:sp>
      <p:sp>
        <p:nvSpPr>
          <p:cNvPr id="13" name="Text 9"/>
          <p:cNvSpPr/>
          <p:nvPr/>
        </p:nvSpPr>
        <p:spPr>
          <a:xfrm>
            <a:off x="1260872" y="2120578"/>
            <a:ext cx="1309092" cy="201811"/>
          </a:xfrm>
          <a:prstGeom prst="rect">
            <a:avLst/>
          </a:prstGeom>
          <a:noFill/>
          <a:ln/>
        </p:spPr>
        <p:txBody>
          <a:bodyPr wrap="square" lIns="0" tIns="0" rIns="0" bIns="0" rtlCol="0" anchor="t">
            <a:spAutoFit/>
          </a:bodyPr>
          <a:lstStyle/>
          <a:p>
            <a:pPr algn="l" indent="0" marL="0">
              <a:buNone/>
            </a:pPr>
            <a:r>
              <a:rPr lang="en-US" sz="1100" dirty="0">
                <a:solidFill>
                  <a:srgbClr val="FFFFFF"/>
                </a:solidFill>
                <a:latin typeface="Space Grotesk Medium" pitchFamily="34" charset="0"/>
                <a:ea typeface="Space Grotesk Medium" pitchFamily="34" charset="-122"/>
                <a:cs typeface="Space Grotesk Medium" pitchFamily="34" charset="-120"/>
              </a:rPr>
              <a:t>Cloud Processing</a:t>
            </a:r>
            <a:endParaRPr lang="en-US" sz="1100" dirty="0"/>
          </a:p>
        </p:txBody>
      </p:sp>
      <p:sp>
        <p:nvSpPr>
          <p:cNvPr id="14" name="Text 10"/>
          <p:cNvSpPr/>
          <p:nvPr/>
        </p:nvSpPr>
        <p:spPr>
          <a:xfrm>
            <a:off x="692944" y="2522413"/>
            <a:ext cx="3621881" cy="297135"/>
          </a:xfrm>
          <a:prstGeom prst="rect">
            <a:avLst/>
          </a:prstGeom>
          <a:noFill/>
          <a:ln/>
        </p:spPr>
        <p:txBody>
          <a:bodyPr wrap="square" lIns="0" tIns="0" rIns="0" bIns="0" rtlCol="0" anchor="t">
            <a:spAutoFit/>
          </a:bodyPr>
          <a:lstStyle/>
          <a:p>
            <a:pPr algn="l" indent="0" marL="0">
              <a:lnSpc>
                <a:spcPct val="104000"/>
              </a:lnSpc>
              <a:buNone/>
            </a:pPr>
            <a:r>
              <a:rPr lang="en-US" sz="850" dirty="0">
                <a:solidFill>
                  <a:srgbClr val="E6F1FF"/>
                </a:solidFill>
                <a:latin typeface="Inter" pitchFamily="34" charset="0"/>
                <a:ea typeface="Inter" pitchFamily="34" charset="-122"/>
                <a:cs typeface="Inter" pitchFamily="34" charset="-120"/>
              </a:rPr>
              <a:t>The voice assistant routes the request to the Sinric Pro cloud, which identifies the target device and state.</a:t>
            </a:r>
            <a:endParaRPr lang="en-US" sz="850" dirty="0"/>
          </a:p>
        </p:txBody>
      </p:sp>
      <p:sp>
        <p:nvSpPr>
          <p:cNvPr id="15" name="Shape 11"/>
          <p:cNvSpPr/>
          <p:nvPr/>
        </p:nvSpPr>
        <p:spPr>
          <a:xfrm>
            <a:off x="127880" y="2979369"/>
            <a:ext cx="3850481" cy="999009"/>
          </a:xfrm>
          <a:prstGeom prst="rect">
            <a:avLst/>
          </a:prstGeom>
          <a:solidFill>
            <a:srgbClr val="172A45"/>
          </a:solidFill>
          <a:ln/>
        </p:spPr>
      </p:sp>
      <p:sp>
        <p:nvSpPr>
          <p:cNvPr id="16" name="Shape 12"/>
          <p:cNvSpPr/>
          <p:nvPr/>
        </p:nvSpPr>
        <p:spPr>
          <a:xfrm>
            <a:off x="127880" y="2979369"/>
            <a:ext cx="28575" cy="999009"/>
          </a:xfrm>
          <a:prstGeom prst="rect">
            <a:avLst/>
          </a:prstGeom>
          <a:solidFill>
            <a:srgbClr val="64FFDA"/>
          </a:solidFill>
          <a:ln/>
        </p:spPr>
      </p:sp>
      <p:sp>
        <p:nvSpPr>
          <p:cNvPr id="17" name="Text 13"/>
          <p:cNvSpPr/>
          <p:nvPr/>
        </p:nvSpPr>
        <p:spPr>
          <a:xfrm>
            <a:off x="244703" y="3288280"/>
            <a:ext cx="483989" cy="126802"/>
          </a:xfrm>
          <a:prstGeom prst="rect">
            <a:avLst/>
          </a:prstGeom>
          <a:noFill/>
          <a:ln/>
        </p:spPr>
        <p:txBody>
          <a:bodyPr wrap="none" lIns="0" tIns="0" rIns="0" bIns="0" rtlCol="0" anchor="t">
            <a:spAutoFit/>
          </a:bodyPr>
          <a:lstStyle/>
          <a:p>
            <a:pPr algn="l" indent="0" marL="0">
              <a:buNone/>
            </a:pPr>
            <a:r>
              <a:rPr lang="en-US" sz="750" spc="2" kern="0" dirty="0">
                <a:solidFill>
                  <a:srgbClr val="64FFDA"/>
                </a:solidFill>
                <a:latin typeface="Space Grotesk Medium" pitchFamily="34" charset="0"/>
                <a:ea typeface="Space Grotesk Medium" pitchFamily="34" charset="-122"/>
                <a:cs typeface="Space Grotesk Medium" pitchFamily="34" charset="-120"/>
              </a:rPr>
              <a:t>STEP 03</a:t>
            </a:r>
            <a:endParaRPr lang="en-US" sz="750" dirty="0"/>
          </a:p>
        </p:txBody>
      </p:sp>
      <p:sp>
        <p:nvSpPr>
          <p:cNvPr id="18" name="Text 14"/>
          <p:cNvSpPr/>
          <p:nvPr/>
        </p:nvSpPr>
        <p:spPr>
          <a:xfrm>
            <a:off x="814417" y="3250775"/>
            <a:ext cx="1037630" cy="201811"/>
          </a:xfrm>
          <a:prstGeom prst="rect">
            <a:avLst/>
          </a:prstGeom>
          <a:noFill/>
          <a:ln/>
        </p:spPr>
        <p:txBody>
          <a:bodyPr wrap="none" lIns="0" tIns="0" rIns="0" bIns="0" rtlCol="0" anchor="t">
            <a:spAutoFit/>
          </a:bodyPr>
          <a:lstStyle/>
          <a:p>
            <a:pPr algn="l" indent="0" marL="0">
              <a:buNone/>
            </a:pPr>
            <a:r>
              <a:rPr lang="en-US" sz="1100" dirty="0">
                <a:solidFill>
                  <a:srgbClr val="FFFFFF"/>
                </a:solidFill>
                <a:latin typeface="Space Grotesk Medium" pitchFamily="34" charset="0"/>
                <a:ea typeface="Space Grotesk Medium" pitchFamily="34" charset="-122"/>
                <a:cs typeface="Space Grotesk Medium" pitchFamily="34" charset="-120"/>
              </a:rPr>
              <a:t>Device Action</a:t>
            </a:r>
            <a:endParaRPr lang="en-US" sz="1100" dirty="0"/>
          </a:p>
        </p:txBody>
      </p:sp>
      <p:sp>
        <p:nvSpPr>
          <p:cNvPr id="19" name="Text 15"/>
          <p:cNvSpPr/>
          <p:nvPr/>
        </p:nvSpPr>
        <p:spPr>
          <a:xfrm>
            <a:off x="242180" y="3609805"/>
            <a:ext cx="3621881" cy="297136"/>
          </a:xfrm>
          <a:prstGeom prst="rect">
            <a:avLst/>
          </a:prstGeom>
          <a:noFill/>
          <a:ln/>
        </p:spPr>
        <p:txBody>
          <a:bodyPr wrap="square" lIns="0" tIns="0" rIns="0" bIns="0" rtlCol="0" anchor="t">
            <a:spAutoFit/>
          </a:bodyPr>
          <a:lstStyle/>
          <a:p>
            <a:pPr algn="l" indent="0" marL="0">
              <a:lnSpc>
                <a:spcPct val="104000"/>
              </a:lnSpc>
              <a:buNone/>
            </a:pPr>
            <a:r>
              <a:rPr lang="en-US" sz="850" dirty="0">
                <a:solidFill>
                  <a:srgbClr val="E6F1FF"/>
                </a:solidFill>
                <a:latin typeface="Inter" pitchFamily="34" charset="0"/>
                <a:ea typeface="Inter" pitchFamily="34" charset="-122"/>
                <a:cs typeface="Inter" pitchFamily="34" charset="-120"/>
              </a:rPr>
              <a:t>Sinric Pro sends a WebSocket message to the NodeMCU ESP8266, which is persistently connected to the internet.</a:t>
            </a:r>
            <a:endParaRPr lang="en-US" sz="850" dirty="0"/>
          </a:p>
        </p:txBody>
      </p:sp>
      <p:sp>
        <p:nvSpPr>
          <p:cNvPr id="20" name="Shape 16"/>
          <p:cNvSpPr/>
          <p:nvPr/>
        </p:nvSpPr>
        <p:spPr>
          <a:xfrm>
            <a:off x="578644" y="4061445"/>
            <a:ext cx="3850481" cy="999009"/>
          </a:xfrm>
          <a:prstGeom prst="rect">
            <a:avLst/>
          </a:prstGeom>
          <a:solidFill>
            <a:srgbClr val="172A45"/>
          </a:solidFill>
          <a:ln/>
        </p:spPr>
      </p:sp>
      <p:sp>
        <p:nvSpPr>
          <p:cNvPr id="21" name="Shape 17"/>
          <p:cNvSpPr/>
          <p:nvPr/>
        </p:nvSpPr>
        <p:spPr>
          <a:xfrm>
            <a:off x="578644" y="4061445"/>
            <a:ext cx="28575" cy="999009"/>
          </a:xfrm>
          <a:prstGeom prst="rect">
            <a:avLst/>
          </a:prstGeom>
          <a:solidFill>
            <a:srgbClr val="64FFDA"/>
          </a:solidFill>
          <a:ln/>
        </p:spPr>
      </p:sp>
      <p:sp>
        <p:nvSpPr>
          <p:cNvPr id="22" name="Text 18"/>
          <p:cNvSpPr/>
          <p:nvPr/>
        </p:nvSpPr>
        <p:spPr>
          <a:xfrm>
            <a:off x="692944" y="4327550"/>
            <a:ext cx="485775" cy="126802"/>
          </a:xfrm>
          <a:prstGeom prst="rect">
            <a:avLst/>
          </a:prstGeom>
          <a:noFill/>
          <a:ln/>
        </p:spPr>
        <p:txBody>
          <a:bodyPr wrap="none" lIns="0" tIns="0" rIns="0" bIns="0" rtlCol="0" anchor="t">
            <a:spAutoFit/>
          </a:bodyPr>
          <a:lstStyle/>
          <a:p>
            <a:pPr algn="l" indent="0" marL="0">
              <a:buNone/>
            </a:pPr>
            <a:r>
              <a:rPr lang="en-US" sz="750" spc="2" kern="0" dirty="0">
                <a:solidFill>
                  <a:srgbClr val="64FFDA"/>
                </a:solidFill>
                <a:latin typeface="Space Grotesk Medium" pitchFamily="34" charset="0"/>
                <a:ea typeface="Space Grotesk Medium" pitchFamily="34" charset="-122"/>
                <a:cs typeface="Space Grotesk Medium" pitchFamily="34" charset="-120"/>
              </a:rPr>
              <a:t>STEP 04</a:t>
            </a:r>
            <a:endParaRPr lang="en-US" sz="750" dirty="0"/>
          </a:p>
        </p:txBody>
      </p:sp>
      <p:sp>
        <p:nvSpPr>
          <p:cNvPr id="23" name="Text 19"/>
          <p:cNvSpPr/>
          <p:nvPr/>
        </p:nvSpPr>
        <p:spPr>
          <a:xfrm>
            <a:off x="1264444" y="4290045"/>
            <a:ext cx="1193006" cy="201811"/>
          </a:xfrm>
          <a:prstGeom prst="rect">
            <a:avLst/>
          </a:prstGeom>
          <a:noFill/>
          <a:ln/>
        </p:spPr>
        <p:txBody>
          <a:bodyPr wrap="none" lIns="0" tIns="0" rIns="0" bIns="0" rtlCol="0" anchor="t">
            <a:spAutoFit/>
          </a:bodyPr>
          <a:lstStyle/>
          <a:p>
            <a:pPr algn="l" indent="0" marL="0">
              <a:buNone/>
            </a:pPr>
            <a:r>
              <a:rPr lang="en-US" sz="1100" dirty="0">
                <a:solidFill>
                  <a:srgbClr val="FFFFFF"/>
                </a:solidFill>
                <a:latin typeface="Space Grotesk Medium" pitchFamily="34" charset="0"/>
                <a:ea typeface="Space Grotesk Medium" pitchFamily="34" charset="-122"/>
                <a:cs typeface="Space Grotesk Medium" pitchFamily="34" charset="-120"/>
              </a:rPr>
              <a:t>Physical Switch</a:t>
            </a:r>
            <a:endParaRPr lang="en-US" sz="1100" dirty="0"/>
          </a:p>
        </p:txBody>
      </p:sp>
      <p:sp>
        <p:nvSpPr>
          <p:cNvPr id="24" name="Text 20"/>
          <p:cNvSpPr/>
          <p:nvPr/>
        </p:nvSpPr>
        <p:spPr>
          <a:xfrm>
            <a:off x="692944" y="4691881"/>
            <a:ext cx="3621881" cy="297135"/>
          </a:xfrm>
          <a:prstGeom prst="rect">
            <a:avLst/>
          </a:prstGeom>
          <a:noFill/>
          <a:ln/>
        </p:spPr>
        <p:txBody>
          <a:bodyPr wrap="square" lIns="0" tIns="0" rIns="0" bIns="0" rtlCol="0" anchor="t">
            <a:spAutoFit/>
          </a:bodyPr>
          <a:lstStyle/>
          <a:p>
            <a:pPr algn="l" indent="0" marL="0">
              <a:lnSpc>
                <a:spcPct val="104000"/>
              </a:lnSpc>
              <a:buNone/>
            </a:pPr>
            <a:r>
              <a:rPr lang="en-US" sz="850" dirty="0">
                <a:solidFill>
                  <a:srgbClr val="E6F1FF"/>
                </a:solidFill>
                <a:latin typeface="Inter" pitchFamily="34" charset="0"/>
                <a:ea typeface="Inter" pitchFamily="34" charset="-122"/>
                <a:cs typeface="Inter" pitchFamily="34" charset="-120"/>
              </a:rPr>
              <a:t>The NodeMCU triggers the corresponding relay, completing the AC circuit and powering the appliance.</a:t>
            </a:r>
            <a:endParaRPr lang="en-US" sz="850" dirty="0"/>
          </a:p>
        </p:txBody>
      </p:sp>
      <p:pic>
        <p:nvPicPr>
          <p:cNvPr id="25" name="Image 1" descr="preencoded.png">    </p:cNvPr>
          <p:cNvPicPr>
            <a:picLocks noChangeAspect="1"/>
          </p:cNvPicPr>
          <p:nvPr/>
        </p:nvPicPr>
        <p:blipFill>
          <a:blip r:embed="rId2"/>
          <a:stretch>
            <a:fillRect/>
          </a:stretch>
        </p:blipFill>
        <p:spPr>
          <a:xfrm>
            <a:off x="5369883" y="1419407"/>
            <a:ext cx="2690710" cy="2549091"/>
          </a:xfrm>
          <a:prstGeom prst="rect">
            <a:avLst/>
          </a:prstGeom>
        </p:spPr>
      </p:pic>
      <p:sp>
        <p:nvSpPr>
          <p:cNvPr id="26" name="Text 21"/>
          <p:cNvSpPr/>
          <p:nvPr/>
        </p:nvSpPr>
        <p:spPr>
          <a:xfrm>
            <a:off x="5146179" y="4175801"/>
            <a:ext cx="2987873" cy="126802"/>
          </a:xfrm>
          <a:prstGeom prst="rect">
            <a:avLst/>
          </a:prstGeom>
          <a:noFill/>
          <a:ln/>
        </p:spPr>
        <p:txBody>
          <a:bodyPr wrap="square" lIns="0" tIns="0" rIns="0" bIns="0" rtlCol="0" anchor="t">
            <a:spAutoFit/>
          </a:bodyPr>
          <a:lstStyle/>
          <a:p>
            <a:pPr algn="ctr" indent="0" marL="0">
              <a:buNone/>
            </a:pPr>
            <a:r>
              <a:rPr lang="en-US" sz="750" dirty="0">
                <a:solidFill>
                  <a:srgbClr val="64FFDA"/>
                </a:solidFill>
                <a:latin typeface="Space Grotesk Medium" pitchFamily="34" charset="0"/>
                <a:ea typeface="Space Grotesk Medium" pitchFamily="34" charset="-122"/>
                <a:cs typeface="Space Grotesk Medium" pitchFamily="34" charset="-120"/>
              </a:rPr>
              <a:t>Hardware Execution: NodeMCU controlling Relay and AC Loads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363418" y="231042"/>
            <a:ext cx="6391870"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Sinric Pro Dashboard &amp; App Integration</a:t>
            </a:r>
            <a:endParaRPr lang="en-US" sz="2450" dirty="0"/>
          </a:p>
        </p:txBody>
      </p:sp>
      <p:sp>
        <p:nvSpPr>
          <p:cNvPr id="5" name="Shape 1"/>
          <p:cNvSpPr/>
          <p:nvPr/>
        </p:nvSpPr>
        <p:spPr>
          <a:xfrm>
            <a:off x="635794" y="864394"/>
            <a:ext cx="2609841" cy="4329113"/>
          </a:xfrm>
          <a:prstGeom prst="rect">
            <a:avLst/>
          </a:prstGeom>
          <a:solidFill>
            <a:srgbClr val="172A45"/>
          </a:solidFill>
          <a:ln/>
        </p:spPr>
      </p:sp>
      <p:pic>
        <p:nvPicPr>
          <p:cNvPr id="6" name="Image 1" descr="preencoded.png">    </p:cNvPr>
          <p:cNvPicPr>
            <a:picLocks noChangeAspect="1"/>
          </p:cNvPicPr>
          <p:nvPr/>
        </p:nvPicPr>
        <p:blipFill>
          <a:blip r:embed="rId2"/>
          <a:stretch>
            <a:fillRect/>
          </a:stretch>
        </p:blipFill>
        <p:spPr>
          <a:xfrm>
            <a:off x="1197750" y="907256"/>
            <a:ext cx="1485900" cy="2628900"/>
          </a:xfrm>
          <a:prstGeom prst="rect">
            <a:avLst/>
          </a:prstGeom>
        </p:spPr>
      </p:pic>
      <p:sp>
        <p:nvSpPr>
          <p:cNvPr id="7" name="Text 2"/>
          <p:cNvSpPr/>
          <p:nvPr/>
        </p:nvSpPr>
        <p:spPr>
          <a:xfrm>
            <a:off x="1184356" y="3593306"/>
            <a:ext cx="1512689" cy="126802"/>
          </a:xfrm>
          <a:prstGeom prst="rect">
            <a:avLst/>
          </a:prstGeom>
          <a:noFill/>
          <a:ln/>
        </p:spPr>
        <p:txBody>
          <a:bodyPr wrap="square" lIns="0" tIns="0" rIns="0" bIns="0" rtlCol="0" anchor="t">
            <a:spAutoFit/>
          </a:bodyPr>
          <a:lstStyle/>
          <a:p>
            <a:pPr algn="l" indent="0" marL="0">
              <a:buNone/>
            </a:pPr>
            <a:r>
              <a:rPr lang="en-US" sz="750" spc="1" kern="0" dirty="0">
                <a:solidFill>
                  <a:srgbClr val="64FFDA"/>
                </a:solidFill>
                <a:latin typeface="Space Grotesk Medium" pitchFamily="34" charset="0"/>
                <a:ea typeface="Space Grotesk Medium" pitchFamily="34" charset="-122"/>
                <a:cs typeface="Space Grotesk Medium" pitchFamily="34" charset="-120"/>
              </a:rPr>
              <a:t>MOBILE CONTROL INTERFACE</a:t>
            </a:r>
            <a:endParaRPr lang="en-US" sz="750" dirty="0"/>
          </a:p>
        </p:txBody>
      </p:sp>
      <p:sp>
        <p:nvSpPr>
          <p:cNvPr id="8" name="Text 3"/>
          <p:cNvSpPr/>
          <p:nvPr/>
        </p:nvSpPr>
        <p:spPr>
          <a:xfrm>
            <a:off x="3402797" y="992981"/>
            <a:ext cx="5219709" cy="347142"/>
          </a:xfrm>
          <a:prstGeom prst="rect">
            <a:avLst/>
          </a:prstGeom>
          <a:noFill/>
          <a:ln/>
        </p:spPr>
        <p:txBody>
          <a:bodyPr wrap="square" lIns="0" tIns="0" rIns="0" bIns="0" rtlCol="0" anchor="t">
            <a:spAutoFit/>
          </a:bodyPr>
          <a:lstStyle/>
          <a:p>
            <a:pPr algn="l" indent="0" marL="0">
              <a:lnSpc>
                <a:spcPct val="108000"/>
              </a:lnSpc>
              <a:buNone/>
            </a:pPr>
            <a:r>
              <a:rPr lang="en-US" sz="950" dirty="0">
                <a:solidFill>
                  <a:srgbClr val="E6F1FF"/>
                </a:solidFill>
                <a:latin typeface="Inter" pitchFamily="34" charset="0"/>
                <a:ea typeface="Inter" pitchFamily="34" charset="-122"/>
                <a:cs typeface="Inter" pitchFamily="34" charset="-120"/>
              </a:rPr>
              <a:t>The system synchronizes device states in real-time across voice assistants and the mobile dashboard for seamless control.</a:t>
            </a:r>
            <a:endParaRPr lang="en-US" sz="950" dirty="0"/>
          </a:p>
        </p:txBody>
      </p:sp>
      <p:sp>
        <p:nvSpPr>
          <p:cNvPr id="9" name="Shape 4"/>
          <p:cNvSpPr/>
          <p:nvPr/>
        </p:nvSpPr>
        <p:spPr>
          <a:xfrm>
            <a:off x="3402797" y="1397273"/>
            <a:ext cx="5219709" cy="2030890"/>
          </a:xfrm>
          <a:prstGeom prst="rect">
            <a:avLst/>
          </a:prstGeom>
          <a:solidFill>
            <a:srgbClr val="172A45"/>
          </a:solidFill>
          <a:ln/>
        </p:spPr>
      </p:sp>
      <p:sp>
        <p:nvSpPr>
          <p:cNvPr id="10" name="Shape 5"/>
          <p:cNvSpPr/>
          <p:nvPr/>
        </p:nvSpPr>
        <p:spPr>
          <a:xfrm>
            <a:off x="3402797" y="1397273"/>
            <a:ext cx="1715253" cy="260747"/>
          </a:xfrm>
          <a:prstGeom prst="rect">
            <a:avLst/>
          </a:prstGeom>
          <a:solidFill>
            <a:srgbClr val="64FFDA"/>
          </a:solidFill>
          <a:ln/>
        </p:spPr>
      </p:sp>
      <p:sp>
        <p:nvSpPr>
          <p:cNvPr id="11" name="Text 6"/>
          <p:cNvSpPr/>
          <p:nvPr/>
        </p:nvSpPr>
        <p:spPr>
          <a:xfrm>
            <a:off x="3402797" y="1397273"/>
            <a:ext cx="1715253" cy="260747"/>
          </a:xfrm>
          <a:prstGeom prst="rect">
            <a:avLst/>
          </a:prstGeom>
          <a:noFill/>
          <a:ln/>
        </p:spPr>
        <p:txBody>
          <a:bodyPr wrap="square" lIns="85090" tIns="68072" rIns="85090" bIns="68072" rtlCol="0" anchor="ctr">
            <a:spAutoFit/>
          </a:bodyPr>
          <a:lstStyle/>
          <a:p>
            <a:pPr algn="l" indent="0" marL="0">
              <a:buNone/>
            </a:pPr>
            <a:r>
              <a:rPr lang="en-US" sz="800" b="1" dirty="0">
                <a:solidFill>
                  <a:srgbClr val="0A192F"/>
                </a:solidFill>
                <a:latin typeface="Space Grotesk Medium" pitchFamily="34" charset="0"/>
                <a:ea typeface="Space Grotesk Medium" pitchFamily="34" charset="-122"/>
                <a:cs typeface="Space Grotesk Medium" pitchFamily="34" charset="-120"/>
              </a:rPr>
              <a:t>VOICE COMMAND / ACTION</a:t>
            </a:r>
            <a:endParaRPr lang="en-US" sz="800" dirty="0"/>
          </a:p>
        </p:txBody>
      </p:sp>
      <p:sp>
        <p:nvSpPr>
          <p:cNvPr id="12" name="Shape 7"/>
          <p:cNvSpPr/>
          <p:nvPr/>
        </p:nvSpPr>
        <p:spPr>
          <a:xfrm>
            <a:off x="5118050" y="1397273"/>
            <a:ext cx="3504456" cy="260747"/>
          </a:xfrm>
          <a:prstGeom prst="rect">
            <a:avLst/>
          </a:prstGeom>
          <a:solidFill>
            <a:srgbClr val="64FFDA"/>
          </a:solidFill>
          <a:ln/>
        </p:spPr>
      </p:sp>
      <p:sp>
        <p:nvSpPr>
          <p:cNvPr id="13" name="Text 8"/>
          <p:cNvSpPr/>
          <p:nvPr/>
        </p:nvSpPr>
        <p:spPr>
          <a:xfrm>
            <a:off x="5118050" y="1397273"/>
            <a:ext cx="3504456" cy="260747"/>
          </a:xfrm>
          <a:prstGeom prst="rect">
            <a:avLst/>
          </a:prstGeom>
          <a:noFill/>
          <a:ln/>
        </p:spPr>
        <p:txBody>
          <a:bodyPr wrap="square" lIns="85090" tIns="68072" rIns="85090" bIns="68072" rtlCol="0" anchor="ctr">
            <a:spAutoFit/>
          </a:bodyPr>
          <a:lstStyle/>
          <a:p>
            <a:pPr algn="l" indent="0" marL="0">
              <a:buNone/>
            </a:pPr>
            <a:r>
              <a:rPr lang="en-US" sz="800" b="1" dirty="0">
                <a:solidFill>
                  <a:srgbClr val="0A192F"/>
                </a:solidFill>
                <a:latin typeface="Space Grotesk Medium" pitchFamily="34" charset="0"/>
                <a:ea typeface="Space Grotesk Medium" pitchFamily="34" charset="-122"/>
                <a:cs typeface="Space Grotesk Medium" pitchFamily="34" charset="-120"/>
              </a:rPr>
              <a:t>SYSTEM RESPONSE</a:t>
            </a:r>
            <a:endParaRPr lang="en-US" sz="800" dirty="0"/>
          </a:p>
        </p:txBody>
      </p:sp>
      <p:sp>
        <p:nvSpPr>
          <p:cNvPr id="14" name="Text 9"/>
          <p:cNvSpPr/>
          <p:nvPr/>
        </p:nvSpPr>
        <p:spPr>
          <a:xfrm>
            <a:off x="3402797" y="1658020"/>
            <a:ext cx="1715253" cy="480752"/>
          </a:xfrm>
          <a:prstGeom prst="rect">
            <a:avLst/>
          </a:prstGeom>
          <a:noFill/>
          <a:ln/>
        </p:spPr>
        <p:txBody>
          <a:bodyPr wrap="square" lIns="85090" tIns="85090" rIns="85090" bIns="85090" rtlCol="0" anchor="ctr">
            <a:spAutoFit/>
          </a:bodyPr>
          <a:lstStyle/>
          <a:p>
            <a:pPr algn="l" indent="0" marL="0">
              <a:lnSpc>
                <a:spcPct val="104000"/>
              </a:lnSpc>
              <a:buNone/>
            </a:pPr>
            <a:r>
              <a:rPr lang="en-US" sz="900" dirty="0">
                <a:solidFill>
                  <a:srgbClr val="64FFDA"/>
                </a:solidFill>
                <a:latin typeface="Space Grotesk Medium" pitchFamily="34" charset="0"/>
                <a:ea typeface="Space Grotesk Medium" pitchFamily="34" charset="-122"/>
                <a:cs typeface="Space Grotesk Medium" pitchFamily="34" charset="-120"/>
              </a:rPr>
              <a:t>"Turn on Living Room Light"</a:t>
            </a:r>
            <a:endParaRPr lang="en-US" sz="900" dirty="0"/>
          </a:p>
        </p:txBody>
      </p:sp>
      <p:sp>
        <p:nvSpPr>
          <p:cNvPr id="15" name="Text 10"/>
          <p:cNvSpPr/>
          <p:nvPr/>
        </p:nvSpPr>
        <p:spPr>
          <a:xfrm>
            <a:off x="5118050" y="1658020"/>
            <a:ext cx="3504456" cy="480752"/>
          </a:xfrm>
          <a:prstGeom prst="rect">
            <a:avLst/>
          </a:prstGeom>
          <a:noFill/>
          <a:ln/>
        </p:spPr>
        <p:txBody>
          <a:bodyPr wrap="square" lIns="85090" tIns="85090" rIns="85090" bIns="85090" rtlCol="0" anchor="ctr">
            <a:spAutoFit/>
          </a:bodyPr>
          <a:lstStyle/>
          <a:p>
            <a:pPr algn="l" indent="0" marL="0">
              <a:lnSpc>
                <a:spcPct val="104000"/>
              </a:lnSpc>
              <a:buNone/>
            </a:pPr>
            <a:r>
              <a:rPr lang="en-US" sz="950" dirty="0">
                <a:solidFill>
                  <a:srgbClr val="FFFFFF"/>
                </a:solidFill>
                <a:latin typeface="Inter" pitchFamily="34" charset="0"/>
                <a:ea typeface="Inter" pitchFamily="34" charset="-122"/>
                <a:cs typeface="Inter" pitchFamily="34" charset="-120"/>
              </a:rPr>
              <a:t>Relay 1 toggles ON; App status updates to 'Active'.</a:t>
            </a:r>
            <a:endParaRPr lang="en-US" sz="950" dirty="0"/>
          </a:p>
        </p:txBody>
      </p:sp>
      <p:sp>
        <p:nvSpPr>
          <p:cNvPr id="16" name="Text 11"/>
          <p:cNvSpPr/>
          <p:nvPr/>
        </p:nvSpPr>
        <p:spPr>
          <a:xfrm>
            <a:off x="3402797" y="2138772"/>
            <a:ext cx="1715253" cy="317171"/>
          </a:xfrm>
          <a:prstGeom prst="rect">
            <a:avLst/>
          </a:prstGeom>
          <a:noFill/>
          <a:ln/>
        </p:spPr>
        <p:txBody>
          <a:bodyPr wrap="square" lIns="85090" tIns="85090" rIns="85090" bIns="85090" rtlCol="0" anchor="ctr">
            <a:spAutoFit/>
          </a:bodyPr>
          <a:lstStyle/>
          <a:p>
            <a:pPr algn="l" indent="0" marL="0">
              <a:lnSpc>
                <a:spcPct val="104000"/>
              </a:lnSpc>
              <a:buNone/>
            </a:pPr>
            <a:r>
              <a:rPr lang="en-US" sz="900" dirty="0">
                <a:solidFill>
                  <a:srgbClr val="64FFDA"/>
                </a:solidFill>
                <a:latin typeface="Space Grotesk Medium" pitchFamily="34" charset="0"/>
                <a:ea typeface="Space Grotesk Medium" pitchFamily="34" charset="-122"/>
                <a:cs typeface="Space Grotesk Medium" pitchFamily="34" charset="-120"/>
              </a:rPr>
              <a:t>"Turn off Bedroom Fan"</a:t>
            </a:r>
            <a:endParaRPr lang="en-US" sz="900" dirty="0"/>
          </a:p>
        </p:txBody>
      </p:sp>
      <p:sp>
        <p:nvSpPr>
          <p:cNvPr id="17" name="Text 12"/>
          <p:cNvSpPr/>
          <p:nvPr/>
        </p:nvSpPr>
        <p:spPr>
          <a:xfrm>
            <a:off x="5118050" y="2138772"/>
            <a:ext cx="3504456" cy="317171"/>
          </a:xfrm>
          <a:prstGeom prst="rect">
            <a:avLst/>
          </a:prstGeom>
          <a:noFill/>
          <a:ln/>
        </p:spPr>
        <p:txBody>
          <a:bodyPr wrap="square" lIns="85090" tIns="85090" rIns="85090" bIns="85090" rtlCol="0" anchor="ctr">
            <a:spAutoFit/>
          </a:bodyPr>
          <a:lstStyle/>
          <a:p>
            <a:pPr algn="l" indent="0" marL="0">
              <a:lnSpc>
                <a:spcPct val="104000"/>
              </a:lnSpc>
              <a:buNone/>
            </a:pPr>
            <a:r>
              <a:rPr lang="en-US" sz="950" dirty="0">
                <a:solidFill>
                  <a:srgbClr val="FFFFFF"/>
                </a:solidFill>
                <a:latin typeface="Inter" pitchFamily="34" charset="0"/>
                <a:ea typeface="Inter" pitchFamily="34" charset="-122"/>
                <a:cs typeface="Inter" pitchFamily="34" charset="-120"/>
              </a:rPr>
              <a:t>Relay 2 toggles OFF; App status updates to 'Inactive'.</a:t>
            </a:r>
            <a:endParaRPr lang="en-US" sz="950" dirty="0"/>
          </a:p>
        </p:txBody>
      </p:sp>
      <p:sp>
        <p:nvSpPr>
          <p:cNvPr id="18" name="Text 13"/>
          <p:cNvSpPr/>
          <p:nvPr/>
        </p:nvSpPr>
        <p:spPr>
          <a:xfrm>
            <a:off x="3402797" y="2455943"/>
            <a:ext cx="1715253" cy="484324"/>
          </a:xfrm>
          <a:prstGeom prst="rect">
            <a:avLst/>
          </a:prstGeom>
          <a:noFill/>
          <a:ln/>
        </p:spPr>
        <p:txBody>
          <a:bodyPr wrap="square" lIns="85090" tIns="85090" rIns="85090" bIns="85090" rtlCol="0" anchor="ctr">
            <a:spAutoFit/>
          </a:bodyPr>
          <a:lstStyle/>
          <a:p>
            <a:pPr algn="l" indent="0" marL="0">
              <a:lnSpc>
                <a:spcPct val="104000"/>
              </a:lnSpc>
              <a:buNone/>
            </a:pPr>
            <a:r>
              <a:rPr lang="en-US" sz="900" dirty="0">
                <a:solidFill>
                  <a:srgbClr val="64FFDA"/>
                </a:solidFill>
                <a:latin typeface="Space Grotesk Medium" pitchFamily="34" charset="0"/>
                <a:ea typeface="Space Grotesk Medium" pitchFamily="34" charset="-122"/>
                <a:cs typeface="Space Grotesk Medium" pitchFamily="34" charset="-120"/>
              </a:rPr>
              <a:t>Manual App Toggle</a:t>
            </a:r>
            <a:endParaRPr lang="en-US" sz="900" dirty="0"/>
          </a:p>
        </p:txBody>
      </p:sp>
      <p:sp>
        <p:nvSpPr>
          <p:cNvPr id="19" name="Text 14"/>
          <p:cNvSpPr/>
          <p:nvPr/>
        </p:nvSpPr>
        <p:spPr>
          <a:xfrm>
            <a:off x="5118050" y="2455943"/>
            <a:ext cx="3504456" cy="484324"/>
          </a:xfrm>
          <a:prstGeom prst="rect">
            <a:avLst/>
          </a:prstGeom>
          <a:noFill/>
          <a:ln/>
        </p:spPr>
        <p:txBody>
          <a:bodyPr wrap="square" lIns="85090" tIns="85090" rIns="85090" bIns="85090" rtlCol="0" anchor="ctr">
            <a:spAutoFit/>
          </a:bodyPr>
          <a:lstStyle/>
          <a:p>
            <a:pPr algn="l" indent="0" marL="0">
              <a:lnSpc>
                <a:spcPct val="104000"/>
              </a:lnSpc>
              <a:buNone/>
            </a:pPr>
            <a:r>
              <a:rPr lang="en-US" sz="950" dirty="0">
                <a:solidFill>
                  <a:srgbClr val="FFFFFF"/>
                </a:solidFill>
                <a:latin typeface="Inter" pitchFamily="34" charset="0"/>
                <a:ea typeface="Inter" pitchFamily="34" charset="-122"/>
                <a:cs typeface="Inter" pitchFamily="34" charset="-120"/>
              </a:rPr>
              <a:t>Cloud sends WebSocket signal; Relay state changes instantly.</a:t>
            </a:r>
            <a:endParaRPr lang="en-US" sz="950" dirty="0"/>
          </a:p>
        </p:txBody>
      </p:sp>
      <p:sp>
        <p:nvSpPr>
          <p:cNvPr id="20" name="Text 15"/>
          <p:cNvSpPr/>
          <p:nvPr/>
        </p:nvSpPr>
        <p:spPr>
          <a:xfrm>
            <a:off x="3402797" y="2940267"/>
            <a:ext cx="1715253" cy="484324"/>
          </a:xfrm>
          <a:prstGeom prst="rect">
            <a:avLst/>
          </a:prstGeom>
          <a:noFill/>
          <a:ln/>
        </p:spPr>
        <p:txBody>
          <a:bodyPr wrap="square" lIns="85090" tIns="85090" rIns="85090" bIns="85090" rtlCol="0" anchor="ctr">
            <a:spAutoFit/>
          </a:bodyPr>
          <a:lstStyle/>
          <a:p>
            <a:pPr algn="l" indent="0" marL="0">
              <a:lnSpc>
                <a:spcPct val="104000"/>
              </a:lnSpc>
              <a:buNone/>
            </a:pPr>
            <a:r>
              <a:rPr lang="en-US" sz="900" dirty="0">
                <a:solidFill>
                  <a:srgbClr val="64FFDA"/>
                </a:solidFill>
                <a:latin typeface="Space Grotesk Medium" pitchFamily="34" charset="0"/>
                <a:ea typeface="Space Grotesk Medium" pitchFamily="34" charset="-122"/>
                <a:cs typeface="Space Grotesk Medium" pitchFamily="34" charset="-120"/>
              </a:rPr>
              <a:t>"Is the Kitchen Light on?"</a:t>
            </a:r>
            <a:endParaRPr lang="en-US" sz="900" dirty="0"/>
          </a:p>
        </p:txBody>
      </p:sp>
      <p:sp>
        <p:nvSpPr>
          <p:cNvPr id="21" name="Text 16"/>
          <p:cNvSpPr/>
          <p:nvPr/>
        </p:nvSpPr>
        <p:spPr>
          <a:xfrm>
            <a:off x="5118050" y="2940267"/>
            <a:ext cx="3504456" cy="484324"/>
          </a:xfrm>
          <a:prstGeom prst="rect">
            <a:avLst/>
          </a:prstGeom>
          <a:noFill/>
          <a:ln/>
        </p:spPr>
        <p:txBody>
          <a:bodyPr wrap="square" lIns="85090" tIns="85090" rIns="85090" bIns="85090" rtlCol="0" anchor="ctr">
            <a:spAutoFit/>
          </a:bodyPr>
          <a:lstStyle/>
          <a:p>
            <a:pPr algn="l" indent="0" marL="0">
              <a:lnSpc>
                <a:spcPct val="104000"/>
              </a:lnSpc>
              <a:buNone/>
            </a:pPr>
            <a:r>
              <a:rPr lang="en-US" sz="950" dirty="0">
                <a:solidFill>
                  <a:srgbClr val="FFFFFF"/>
                </a:solidFill>
                <a:latin typeface="Inter" pitchFamily="34" charset="0"/>
                <a:ea typeface="Inter" pitchFamily="34" charset="-122"/>
                <a:cs typeface="Inter" pitchFamily="34" charset="-120"/>
              </a:rPr>
              <a:t>Assistant queries Sinric Pro; reports current relay state.</a:t>
            </a:r>
            <a:endParaRPr lang="en-US" sz="950" dirty="0"/>
          </a:p>
        </p:txBody>
      </p:sp>
      <p:sp>
        <p:nvSpPr>
          <p:cNvPr id="22" name="Text 17"/>
          <p:cNvSpPr/>
          <p:nvPr/>
        </p:nvSpPr>
        <p:spPr>
          <a:xfrm>
            <a:off x="3402797" y="3485313"/>
            <a:ext cx="5219709" cy="121444"/>
          </a:xfrm>
          <a:prstGeom prst="rect">
            <a:avLst/>
          </a:prstGeom>
          <a:noFill/>
          <a:ln/>
        </p:spPr>
        <p:txBody>
          <a:bodyPr wrap="square" lIns="0" tIns="0" rIns="0" bIns="0" rtlCol="0" anchor="t">
            <a:spAutoFit/>
          </a:bodyPr>
          <a:lstStyle/>
          <a:p>
            <a:pPr algn="l" indent="0" marL="0">
              <a:buNone/>
            </a:pPr>
            <a:r>
              <a:rPr lang="en-US" sz="750" i="1" dirty="0">
                <a:solidFill>
                  <a:srgbClr val="64FFDA">
                    <a:alpha val="80000"/>
                  </a:srgbClr>
                </a:solidFill>
                <a:latin typeface="Inter" pitchFamily="34" charset="0"/>
                <a:ea typeface="Inter" pitchFamily="34" charset="-122"/>
                <a:cs typeface="Inter" pitchFamily="34" charset="-120"/>
              </a:rPr>
              <a:t>Note: Results are published via MQTT/WebSocket; widgets refresh in real-time with &lt;200ms latency.</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600819" y="231042"/>
            <a:ext cx="6516886"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Advantages, Applications &amp; Future Scope</a:t>
            </a:r>
            <a:endParaRPr lang="en-US" sz="2450" dirty="0"/>
          </a:p>
        </p:txBody>
      </p:sp>
      <p:sp>
        <p:nvSpPr>
          <p:cNvPr id="5" name="Text 1"/>
          <p:cNvSpPr/>
          <p:nvPr/>
        </p:nvSpPr>
        <p:spPr>
          <a:xfrm>
            <a:off x="321713" y="1050131"/>
            <a:ext cx="196453" cy="189309"/>
          </a:xfrm>
          <a:prstGeom prst="rect">
            <a:avLst/>
          </a:prstGeom>
          <a:noFill/>
          <a:ln/>
        </p:spPr>
        <p:txBody>
          <a:bodyPr wrap="none" lIns="0" tIns="0" rIns="0" bIns="0" rtlCol="0" anchor="t">
            <a:spAutoFit/>
          </a:bodyPr>
          <a:lstStyle/>
          <a:p>
            <a:pPr algn="l" indent="0" marL="0">
              <a:buNone/>
            </a:pPr>
            <a:r>
              <a:rPr lang="en-US" sz="1150" dirty="0">
                <a:solidFill>
                  <a:srgbClr val="64FFDA"/>
                </a:solidFill>
                <a:latin typeface="Inter" pitchFamily="34" charset="0"/>
                <a:ea typeface="Inter" pitchFamily="34" charset="-122"/>
                <a:cs typeface="Inter" pitchFamily="34" charset="-120"/>
              </a:rPr>
              <a:t>⚡</a:t>
            </a:r>
            <a:endParaRPr lang="en-US" sz="1150" dirty="0"/>
          </a:p>
        </p:txBody>
      </p:sp>
      <p:sp>
        <p:nvSpPr>
          <p:cNvPr id="6" name="Text 2"/>
          <p:cNvSpPr/>
          <p:nvPr/>
        </p:nvSpPr>
        <p:spPr>
          <a:xfrm>
            <a:off x="589604" y="1035844"/>
            <a:ext cx="1119783" cy="217884"/>
          </a:xfrm>
          <a:prstGeom prst="rect">
            <a:avLst/>
          </a:prstGeom>
          <a:noFill/>
          <a:ln/>
        </p:spPr>
        <p:txBody>
          <a:bodyPr wrap="none" lIns="0" tIns="0" rIns="0" bIns="0" rtlCol="0" anchor="t">
            <a:spAutoFit/>
          </a:bodyPr>
          <a:lstStyle/>
          <a:p>
            <a:pPr algn="l" indent="0" marL="0">
              <a:buNone/>
            </a:pPr>
            <a:r>
              <a:rPr lang="en-US" sz="1200" b="1" spc="1" kern="0" dirty="0">
                <a:solidFill>
                  <a:srgbClr val="64FFDA"/>
                </a:solidFill>
                <a:latin typeface="Space Grotesk Medium" pitchFamily="34" charset="0"/>
                <a:ea typeface="Space Grotesk Medium" pitchFamily="34" charset="-122"/>
                <a:cs typeface="Space Grotesk Medium" pitchFamily="34" charset="-120"/>
              </a:rPr>
              <a:t>ADVANTAGES</a:t>
            </a:r>
            <a:endParaRPr lang="en-US" sz="1200" dirty="0"/>
          </a:p>
        </p:txBody>
      </p:sp>
      <p:sp>
        <p:nvSpPr>
          <p:cNvPr id="7" name="Text 3"/>
          <p:cNvSpPr/>
          <p:nvPr/>
        </p:nvSpPr>
        <p:spPr>
          <a:xfrm>
            <a:off x="429613" y="1453753"/>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8" name="Text 4"/>
          <p:cNvSpPr/>
          <p:nvPr/>
        </p:nvSpPr>
        <p:spPr>
          <a:xfrm>
            <a:off x="578739" y="1453753"/>
            <a:ext cx="147964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Hands-free operation via voice commands for maximum convenience.</a:t>
            </a:r>
            <a:endParaRPr lang="en-US" sz="950" dirty="0"/>
          </a:p>
        </p:txBody>
      </p:sp>
      <p:sp>
        <p:nvSpPr>
          <p:cNvPr id="9" name="Text 5"/>
          <p:cNvSpPr/>
          <p:nvPr/>
        </p:nvSpPr>
        <p:spPr>
          <a:xfrm>
            <a:off x="429613" y="2089533"/>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10" name="Text 6"/>
          <p:cNvSpPr/>
          <p:nvPr/>
        </p:nvSpPr>
        <p:spPr>
          <a:xfrm>
            <a:off x="578739" y="2089533"/>
            <a:ext cx="147964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Energy efficient through remote monitoring and scheduling.</a:t>
            </a:r>
            <a:endParaRPr lang="en-US" sz="950" dirty="0"/>
          </a:p>
        </p:txBody>
      </p:sp>
      <p:sp>
        <p:nvSpPr>
          <p:cNvPr id="11" name="Text 7"/>
          <p:cNvSpPr/>
          <p:nvPr/>
        </p:nvSpPr>
        <p:spPr>
          <a:xfrm>
            <a:off x="429613" y="2668191"/>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12" name="Text 8"/>
          <p:cNvSpPr/>
          <p:nvPr/>
        </p:nvSpPr>
        <p:spPr>
          <a:xfrm>
            <a:off x="578739" y="2668191"/>
            <a:ext cx="147964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Cost-effective hardware implementation using open-source platforms.</a:t>
            </a:r>
            <a:endParaRPr lang="en-US" sz="950" dirty="0"/>
          </a:p>
        </p:txBody>
      </p:sp>
      <p:sp>
        <p:nvSpPr>
          <p:cNvPr id="13" name="Text 9"/>
          <p:cNvSpPr/>
          <p:nvPr/>
        </p:nvSpPr>
        <p:spPr>
          <a:xfrm>
            <a:off x="2250281" y="1050131"/>
            <a:ext cx="196453" cy="189309"/>
          </a:xfrm>
          <a:prstGeom prst="rect">
            <a:avLst/>
          </a:prstGeom>
          <a:noFill/>
          <a:ln/>
        </p:spPr>
        <p:txBody>
          <a:bodyPr wrap="none" lIns="0" tIns="0" rIns="0" bIns="0" rtlCol="0" anchor="t">
            <a:spAutoFit/>
          </a:bodyPr>
          <a:lstStyle/>
          <a:p>
            <a:pPr algn="l" indent="0" marL="0">
              <a:buNone/>
            </a:pPr>
            <a:r>
              <a:rPr lang="en-US" sz="1150" dirty="0">
                <a:solidFill>
                  <a:srgbClr val="64FFDA"/>
                </a:solidFill>
                <a:latin typeface="Inter" pitchFamily="34" charset="0"/>
                <a:ea typeface="Inter" pitchFamily="34" charset="-122"/>
                <a:cs typeface="Inter" pitchFamily="34" charset="-120"/>
              </a:rPr>
              <a:t>🏠</a:t>
            </a:r>
            <a:endParaRPr lang="en-US" sz="1150" dirty="0"/>
          </a:p>
        </p:txBody>
      </p:sp>
      <p:sp>
        <p:nvSpPr>
          <p:cNvPr id="14" name="Text 10"/>
          <p:cNvSpPr/>
          <p:nvPr/>
        </p:nvSpPr>
        <p:spPr>
          <a:xfrm>
            <a:off x="2518172" y="1035844"/>
            <a:ext cx="1219795" cy="217884"/>
          </a:xfrm>
          <a:prstGeom prst="rect">
            <a:avLst/>
          </a:prstGeom>
          <a:noFill/>
          <a:ln/>
        </p:spPr>
        <p:txBody>
          <a:bodyPr wrap="none" lIns="0" tIns="0" rIns="0" bIns="0" rtlCol="0" anchor="t">
            <a:spAutoFit/>
          </a:bodyPr>
          <a:lstStyle/>
          <a:p>
            <a:pPr algn="l" indent="0" marL="0">
              <a:buNone/>
            </a:pPr>
            <a:r>
              <a:rPr lang="en-US" sz="1200" b="1" spc="1" kern="0" dirty="0">
                <a:solidFill>
                  <a:srgbClr val="64FFDA"/>
                </a:solidFill>
                <a:latin typeface="Space Grotesk Medium" pitchFamily="34" charset="0"/>
                <a:ea typeface="Space Grotesk Medium" pitchFamily="34" charset="-122"/>
                <a:cs typeface="Space Grotesk Medium" pitchFamily="34" charset="-120"/>
              </a:rPr>
              <a:t>APPLICATIONS</a:t>
            </a:r>
            <a:endParaRPr lang="en-US" sz="1200" dirty="0"/>
          </a:p>
        </p:txBody>
      </p:sp>
      <p:sp>
        <p:nvSpPr>
          <p:cNvPr id="15" name="Text 11"/>
          <p:cNvSpPr/>
          <p:nvPr/>
        </p:nvSpPr>
        <p:spPr>
          <a:xfrm>
            <a:off x="2250281" y="1453753"/>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16" name="Text 12"/>
          <p:cNvSpPr/>
          <p:nvPr/>
        </p:nvSpPr>
        <p:spPr>
          <a:xfrm>
            <a:off x="2399407" y="1453753"/>
            <a:ext cx="147964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Smart Homes: Lighting, climate, and security control.</a:t>
            </a:r>
            <a:endParaRPr lang="en-US" sz="950" dirty="0"/>
          </a:p>
        </p:txBody>
      </p:sp>
      <p:sp>
        <p:nvSpPr>
          <p:cNvPr id="17" name="Text 13"/>
          <p:cNvSpPr/>
          <p:nvPr/>
        </p:nvSpPr>
        <p:spPr>
          <a:xfrm>
            <a:off x="2250281" y="2060972"/>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18" name="Text 14"/>
          <p:cNvSpPr/>
          <p:nvPr/>
        </p:nvSpPr>
        <p:spPr>
          <a:xfrm>
            <a:off x="2399407" y="2060972"/>
            <a:ext cx="1479649" cy="771525"/>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Hospitals: Patient-centric device management for accessibility.</a:t>
            </a:r>
            <a:endParaRPr lang="en-US" sz="950" dirty="0"/>
          </a:p>
        </p:txBody>
      </p:sp>
      <p:sp>
        <p:nvSpPr>
          <p:cNvPr id="19" name="Text 15"/>
          <p:cNvSpPr/>
          <p:nvPr/>
        </p:nvSpPr>
        <p:spPr>
          <a:xfrm>
            <a:off x="2250281" y="2861072"/>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20" name="Text 16"/>
          <p:cNvSpPr/>
          <p:nvPr/>
        </p:nvSpPr>
        <p:spPr>
          <a:xfrm>
            <a:off x="2399407" y="2861072"/>
            <a:ext cx="147964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Offices: Automated meeting room and energy management.</a:t>
            </a:r>
            <a:endParaRPr lang="en-US" sz="950" dirty="0"/>
          </a:p>
        </p:txBody>
      </p:sp>
      <p:sp>
        <p:nvSpPr>
          <p:cNvPr id="21" name="Text 17"/>
          <p:cNvSpPr/>
          <p:nvPr/>
        </p:nvSpPr>
        <p:spPr>
          <a:xfrm>
            <a:off x="4007644" y="1050131"/>
            <a:ext cx="196453" cy="189309"/>
          </a:xfrm>
          <a:prstGeom prst="rect">
            <a:avLst/>
          </a:prstGeom>
          <a:noFill/>
          <a:ln/>
        </p:spPr>
        <p:txBody>
          <a:bodyPr wrap="none" lIns="0" tIns="0" rIns="0" bIns="0" rtlCol="0" anchor="t">
            <a:spAutoFit/>
          </a:bodyPr>
          <a:lstStyle/>
          <a:p>
            <a:pPr algn="l" indent="0" marL="0">
              <a:buNone/>
            </a:pPr>
            <a:r>
              <a:rPr lang="en-US" sz="1150" dirty="0">
                <a:solidFill>
                  <a:srgbClr val="64FFDA"/>
                </a:solidFill>
                <a:latin typeface="Inter" pitchFamily="34" charset="0"/>
                <a:ea typeface="Inter" pitchFamily="34" charset="-122"/>
                <a:cs typeface="Inter" pitchFamily="34" charset="-120"/>
              </a:rPr>
              <a:t>🚀</a:t>
            </a:r>
            <a:endParaRPr lang="en-US" sz="1150" dirty="0"/>
          </a:p>
        </p:txBody>
      </p:sp>
      <p:sp>
        <p:nvSpPr>
          <p:cNvPr id="22" name="Text 18"/>
          <p:cNvSpPr/>
          <p:nvPr/>
        </p:nvSpPr>
        <p:spPr>
          <a:xfrm>
            <a:off x="4275534" y="1035844"/>
            <a:ext cx="1285875" cy="217884"/>
          </a:xfrm>
          <a:prstGeom prst="rect">
            <a:avLst/>
          </a:prstGeom>
          <a:noFill/>
          <a:ln/>
        </p:spPr>
        <p:txBody>
          <a:bodyPr wrap="none" lIns="0" tIns="0" rIns="0" bIns="0" rtlCol="0" anchor="t">
            <a:spAutoFit/>
          </a:bodyPr>
          <a:lstStyle/>
          <a:p>
            <a:pPr algn="l" indent="0" marL="0">
              <a:buNone/>
            </a:pPr>
            <a:r>
              <a:rPr lang="en-US" sz="1200" b="1" spc="1" kern="0" dirty="0">
                <a:solidFill>
                  <a:srgbClr val="64FFDA"/>
                </a:solidFill>
                <a:latin typeface="Space Grotesk Medium" pitchFamily="34" charset="0"/>
                <a:ea typeface="Space Grotesk Medium" pitchFamily="34" charset="-122"/>
                <a:cs typeface="Space Grotesk Medium" pitchFamily="34" charset="-120"/>
              </a:rPr>
              <a:t>FUTURE SCOPE</a:t>
            </a:r>
            <a:endParaRPr lang="en-US" sz="1200" dirty="0"/>
          </a:p>
        </p:txBody>
      </p:sp>
      <p:sp>
        <p:nvSpPr>
          <p:cNvPr id="23" name="Text 19"/>
          <p:cNvSpPr/>
          <p:nvPr/>
        </p:nvSpPr>
        <p:spPr>
          <a:xfrm>
            <a:off x="4007644" y="1453753"/>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24" name="Text 20"/>
          <p:cNvSpPr/>
          <p:nvPr/>
        </p:nvSpPr>
        <p:spPr>
          <a:xfrm>
            <a:off x="4156770" y="1453753"/>
            <a:ext cx="147964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Integration with AI for predictive and adaptive automation.</a:t>
            </a:r>
            <a:endParaRPr lang="en-US" sz="950" dirty="0"/>
          </a:p>
        </p:txBody>
      </p:sp>
      <p:sp>
        <p:nvSpPr>
          <p:cNvPr id="25" name="Text 21"/>
          <p:cNvSpPr/>
          <p:nvPr/>
        </p:nvSpPr>
        <p:spPr>
          <a:xfrm>
            <a:off x="4007644" y="2060972"/>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26" name="Text 22"/>
          <p:cNvSpPr/>
          <p:nvPr/>
        </p:nvSpPr>
        <p:spPr>
          <a:xfrm>
            <a:off x="4156770" y="2060972"/>
            <a:ext cx="147964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Advanced Energy Analytics and real-time reporting.</a:t>
            </a:r>
            <a:endParaRPr lang="en-US" sz="950" dirty="0"/>
          </a:p>
        </p:txBody>
      </p:sp>
      <p:sp>
        <p:nvSpPr>
          <p:cNvPr id="27" name="Text 23"/>
          <p:cNvSpPr/>
          <p:nvPr/>
        </p:nvSpPr>
        <p:spPr>
          <a:xfrm>
            <a:off x="4007644" y="2668191"/>
            <a:ext cx="77688"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64FFDA"/>
                </a:solidFill>
                <a:latin typeface="Inter" pitchFamily="34" charset="0"/>
                <a:ea typeface="Inter" pitchFamily="34" charset="-122"/>
                <a:cs typeface="Inter" pitchFamily="34" charset="-120"/>
              </a:rPr>
              <a:t>●</a:t>
            </a:r>
            <a:endParaRPr lang="en-US" sz="900" dirty="0"/>
          </a:p>
        </p:txBody>
      </p:sp>
      <p:sp>
        <p:nvSpPr>
          <p:cNvPr id="28" name="Text 24"/>
          <p:cNvSpPr/>
          <p:nvPr/>
        </p:nvSpPr>
        <p:spPr>
          <a:xfrm>
            <a:off x="4156770" y="2668191"/>
            <a:ext cx="147964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E6F1FF"/>
                </a:solidFill>
                <a:latin typeface="Inter" pitchFamily="34" charset="0"/>
                <a:ea typeface="Inter" pitchFamily="34" charset="-122"/>
                <a:cs typeface="Inter" pitchFamily="34" charset="-120"/>
              </a:rPr>
              <a:t>Biometric and Gesture Control for enhanced security.</a:t>
            </a:r>
            <a:endParaRPr lang="en-US" sz="950" dirty="0"/>
          </a:p>
        </p:txBody>
      </p:sp>
      <p:pic>
        <p:nvPicPr>
          <p:cNvPr id="29" name="Image 1" descr="preencoded.png">    </p:cNvPr>
          <p:cNvPicPr>
            <a:picLocks noChangeAspect="1"/>
          </p:cNvPicPr>
          <p:nvPr/>
        </p:nvPicPr>
        <p:blipFill>
          <a:blip r:embed="rId2"/>
          <a:stretch>
            <a:fillRect/>
          </a:stretch>
        </p:blipFill>
        <p:spPr>
          <a:xfrm>
            <a:off x="6059141" y="1673645"/>
            <a:ext cx="2586037" cy="21574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825514" y="231042"/>
            <a:ext cx="1798439" cy="550069"/>
          </a:xfrm>
          <a:prstGeom prst="rect">
            <a:avLst/>
          </a:prstGeom>
          <a:noFill/>
          <a:ln/>
        </p:spPr>
        <p:txBody>
          <a:bodyPr wrap="square" lIns="0" tIns="0" rIns="0" bIns="85090" rtlCol="0" anchor="t">
            <a:spAutoFit/>
          </a:bodyPr>
          <a:lstStyle/>
          <a:p>
            <a:pPr algn="l"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Conclusion</a:t>
            </a:r>
            <a:endParaRPr lang="en-US" sz="2450" dirty="0"/>
          </a:p>
        </p:txBody>
      </p:sp>
      <p:sp>
        <p:nvSpPr>
          <p:cNvPr id="5" name="Shape 1"/>
          <p:cNvSpPr/>
          <p:nvPr/>
        </p:nvSpPr>
        <p:spPr>
          <a:xfrm>
            <a:off x="667941" y="907256"/>
            <a:ext cx="7922419" cy="514350"/>
          </a:xfrm>
          <a:prstGeom prst="rect">
            <a:avLst/>
          </a:prstGeom>
          <a:solidFill>
            <a:srgbClr val="172A45"/>
          </a:solidFill>
          <a:ln/>
        </p:spPr>
      </p:sp>
      <p:sp>
        <p:nvSpPr>
          <p:cNvPr id="6" name="Shape 2"/>
          <p:cNvSpPr/>
          <p:nvPr/>
        </p:nvSpPr>
        <p:spPr>
          <a:xfrm>
            <a:off x="667941" y="907256"/>
            <a:ext cx="28575" cy="514350"/>
          </a:xfrm>
          <a:prstGeom prst="rect">
            <a:avLst/>
          </a:prstGeom>
          <a:solidFill>
            <a:srgbClr val="64FFDA"/>
          </a:solidFill>
          <a:ln/>
        </p:spPr>
      </p:sp>
      <p:sp>
        <p:nvSpPr>
          <p:cNvPr id="7" name="Text 3"/>
          <p:cNvSpPr/>
          <p:nvPr/>
        </p:nvSpPr>
        <p:spPr>
          <a:xfrm>
            <a:off x="1025128" y="1044411"/>
            <a:ext cx="7016948" cy="240013"/>
          </a:xfrm>
          <a:prstGeom prst="rect">
            <a:avLst/>
          </a:prstGeom>
          <a:noFill/>
          <a:ln/>
        </p:spPr>
        <p:txBody>
          <a:bodyPr wrap="none" lIns="0" tIns="0" rIns="0" bIns="0" rtlCol="0" anchor="t">
            <a:spAutoFit/>
          </a:bodyPr>
          <a:lstStyle/>
          <a:p>
            <a:pPr algn="l" indent="0" marL="0">
              <a:lnSpc>
                <a:spcPct val="112000"/>
              </a:lnSpc>
              <a:buNone/>
            </a:pPr>
            <a:r>
              <a:rPr lang="en-US" sz="1250" dirty="0">
                <a:solidFill>
                  <a:srgbClr val="E6F1FF"/>
                </a:solidFill>
                <a:latin typeface="Inter" pitchFamily="34" charset="0"/>
                <a:ea typeface="Inter" pitchFamily="34" charset="-122"/>
                <a:cs typeface="Inter" pitchFamily="34" charset="-120"/>
              </a:rPr>
              <a:t>Successfully developed a robust </a:t>
            </a:r>
            <a:r>
              <a:rPr lang="en-US" sz="1200" b="1" dirty="0">
                <a:solidFill>
                  <a:srgbClr val="E6F1FF"/>
                </a:solidFill>
                <a:latin typeface="Inter" pitchFamily="34" charset="0"/>
                <a:ea typeface="Inter" pitchFamily="34" charset="-122"/>
                <a:cs typeface="Inter" pitchFamily="34" charset="-120"/>
              </a:rPr>
              <a:t>IoT-based voice-controlled</a:t>
            </a:r>
            <a:r>
              <a:rPr lang="en-US" sz="1250" dirty="0">
                <a:solidFill>
                  <a:srgbClr val="E6F1FF"/>
                </a:solidFill>
                <a:latin typeface="Inter" pitchFamily="34" charset="0"/>
                <a:ea typeface="Inter" pitchFamily="34" charset="-122"/>
                <a:cs typeface="Inter" pitchFamily="34" charset="-120"/>
              </a:rPr>
              <a:t> home automation system.</a:t>
            </a:r>
            <a:endParaRPr lang="en-US" sz="1250" dirty="0"/>
          </a:p>
        </p:txBody>
      </p:sp>
      <p:sp>
        <p:nvSpPr>
          <p:cNvPr id="8" name="Shape 4"/>
          <p:cNvSpPr/>
          <p:nvPr/>
        </p:nvSpPr>
        <p:spPr>
          <a:xfrm>
            <a:off x="667941" y="1493044"/>
            <a:ext cx="7922419" cy="514350"/>
          </a:xfrm>
          <a:prstGeom prst="rect">
            <a:avLst/>
          </a:prstGeom>
          <a:solidFill>
            <a:srgbClr val="172A45"/>
          </a:solidFill>
          <a:ln/>
        </p:spPr>
      </p:sp>
      <p:sp>
        <p:nvSpPr>
          <p:cNvPr id="9" name="Shape 5"/>
          <p:cNvSpPr/>
          <p:nvPr/>
        </p:nvSpPr>
        <p:spPr>
          <a:xfrm>
            <a:off x="667941" y="1493044"/>
            <a:ext cx="28575" cy="514350"/>
          </a:xfrm>
          <a:prstGeom prst="rect">
            <a:avLst/>
          </a:prstGeom>
          <a:solidFill>
            <a:srgbClr val="64FFDA"/>
          </a:solidFill>
          <a:ln/>
        </p:spPr>
      </p:sp>
      <p:sp>
        <p:nvSpPr>
          <p:cNvPr id="10" name="Text 6"/>
          <p:cNvSpPr/>
          <p:nvPr/>
        </p:nvSpPr>
        <p:spPr>
          <a:xfrm>
            <a:off x="1025128" y="1630198"/>
            <a:ext cx="6847284" cy="240013"/>
          </a:xfrm>
          <a:prstGeom prst="rect">
            <a:avLst/>
          </a:prstGeom>
          <a:noFill/>
          <a:ln/>
        </p:spPr>
        <p:txBody>
          <a:bodyPr wrap="none" lIns="0" tIns="0" rIns="0" bIns="0" rtlCol="0" anchor="t">
            <a:spAutoFit/>
          </a:bodyPr>
          <a:lstStyle/>
          <a:p>
            <a:pPr algn="l" indent="0" marL="0">
              <a:lnSpc>
                <a:spcPct val="112000"/>
              </a:lnSpc>
              <a:buNone/>
            </a:pPr>
            <a:r>
              <a:rPr lang="en-US" sz="1250" dirty="0">
                <a:solidFill>
                  <a:srgbClr val="E6F1FF"/>
                </a:solidFill>
                <a:latin typeface="Inter" pitchFamily="34" charset="0"/>
                <a:ea typeface="Inter" pitchFamily="34" charset="-122"/>
                <a:cs typeface="Inter" pitchFamily="34" charset="-120"/>
              </a:rPr>
              <a:t>Demonstrated effective synergy between </a:t>
            </a:r>
            <a:r>
              <a:rPr lang="en-US" sz="1200" b="1" dirty="0">
                <a:solidFill>
                  <a:srgbClr val="E6F1FF"/>
                </a:solidFill>
                <a:latin typeface="Inter" pitchFamily="34" charset="0"/>
                <a:ea typeface="Inter" pitchFamily="34" charset="-122"/>
                <a:cs typeface="Inter" pitchFamily="34" charset="-120"/>
              </a:rPr>
              <a:t>ESP8266, Sinric Pro, and Voice Assistants</a:t>
            </a:r>
            <a:r>
              <a:rPr lang="en-US" sz="1250" dirty="0">
                <a:solidFill>
                  <a:srgbClr val="E6F1FF"/>
                </a:solidFill>
                <a:latin typeface="Inter" pitchFamily="34" charset="0"/>
                <a:ea typeface="Inter" pitchFamily="34" charset="-122"/>
                <a:cs typeface="Inter" pitchFamily="34" charset="-120"/>
              </a:rPr>
              <a:t>.</a:t>
            </a:r>
            <a:endParaRPr lang="en-US" sz="1250" dirty="0"/>
          </a:p>
        </p:txBody>
      </p:sp>
      <p:sp>
        <p:nvSpPr>
          <p:cNvPr id="11" name="Shape 7"/>
          <p:cNvSpPr/>
          <p:nvPr/>
        </p:nvSpPr>
        <p:spPr>
          <a:xfrm>
            <a:off x="667941" y="2078831"/>
            <a:ext cx="7922419" cy="514350"/>
          </a:xfrm>
          <a:prstGeom prst="rect">
            <a:avLst/>
          </a:prstGeom>
          <a:solidFill>
            <a:srgbClr val="172A45"/>
          </a:solidFill>
          <a:ln/>
        </p:spPr>
      </p:sp>
      <p:sp>
        <p:nvSpPr>
          <p:cNvPr id="12" name="Shape 8"/>
          <p:cNvSpPr/>
          <p:nvPr/>
        </p:nvSpPr>
        <p:spPr>
          <a:xfrm>
            <a:off x="667941" y="2078831"/>
            <a:ext cx="28575" cy="514350"/>
          </a:xfrm>
          <a:prstGeom prst="rect">
            <a:avLst/>
          </a:prstGeom>
          <a:solidFill>
            <a:srgbClr val="64FFDA"/>
          </a:solidFill>
          <a:ln/>
        </p:spPr>
      </p:sp>
      <p:sp>
        <p:nvSpPr>
          <p:cNvPr id="13" name="Text 9"/>
          <p:cNvSpPr/>
          <p:nvPr/>
        </p:nvSpPr>
        <p:spPr>
          <a:xfrm>
            <a:off x="1025128" y="2215986"/>
            <a:ext cx="6482953" cy="240013"/>
          </a:xfrm>
          <a:prstGeom prst="rect">
            <a:avLst/>
          </a:prstGeom>
          <a:noFill/>
          <a:ln/>
        </p:spPr>
        <p:txBody>
          <a:bodyPr wrap="none" lIns="0" tIns="0" rIns="0" bIns="0" rtlCol="0" anchor="t">
            <a:spAutoFit/>
          </a:bodyPr>
          <a:lstStyle/>
          <a:p>
            <a:pPr algn="l" indent="0" marL="0">
              <a:lnSpc>
                <a:spcPct val="112000"/>
              </a:lnSpc>
              <a:buNone/>
            </a:pPr>
            <a:r>
              <a:rPr lang="en-US" sz="1250" dirty="0">
                <a:solidFill>
                  <a:srgbClr val="E6F1FF"/>
                </a:solidFill>
                <a:latin typeface="Inter" pitchFamily="34" charset="0"/>
                <a:ea typeface="Inter" pitchFamily="34" charset="-122"/>
                <a:cs typeface="Inter" pitchFamily="34" charset="-120"/>
              </a:rPr>
              <a:t>Provided a </a:t>
            </a:r>
            <a:r>
              <a:rPr lang="en-US" sz="1200" b="1" dirty="0">
                <a:solidFill>
                  <a:srgbClr val="E6F1FF"/>
                </a:solidFill>
                <a:latin typeface="Inter" pitchFamily="34" charset="0"/>
                <a:ea typeface="Inter" pitchFamily="34" charset="-122"/>
                <a:cs typeface="Inter" pitchFamily="34" charset="-120"/>
              </a:rPr>
              <a:t>practical, low-cost solution</a:t>
            </a:r>
            <a:r>
              <a:rPr lang="en-US" sz="1250" dirty="0">
                <a:solidFill>
                  <a:srgbClr val="E6F1FF"/>
                </a:solidFill>
                <a:latin typeface="Inter" pitchFamily="34" charset="0"/>
                <a:ea typeface="Inter" pitchFamily="34" charset="-122"/>
                <a:cs typeface="Inter" pitchFamily="34" charset="-120"/>
              </a:rPr>
              <a:t> for modern smart living and accessibility.</a:t>
            </a:r>
            <a:endParaRPr lang="en-US" sz="1250" dirty="0"/>
          </a:p>
        </p:txBody>
      </p:sp>
      <p:sp>
        <p:nvSpPr>
          <p:cNvPr id="14" name="Shape 10"/>
          <p:cNvSpPr/>
          <p:nvPr/>
        </p:nvSpPr>
        <p:spPr>
          <a:xfrm>
            <a:off x="667941" y="2664619"/>
            <a:ext cx="7922419" cy="514350"/>
          </a:xfrm>
          <a:prstGeom prst="rect">
            <a:avLst/>
          </a:prstGeom>
          <a:solidFill>
            <a:srgbClr val="172A45"/>
          </a:solidFill>
          <a:ln/>
        </p:spPr>
      </p:sp>
      <p:sp>
        <p:nvSpPr>
          <p:cNvPr id="15" name="Shape 11"/>
          <p:cNvSpPr/>
          <p:nvPr/>
        </p:nvSpPr>
        <p:spPr>
          <a:xfrm>
            <a:off x="667941" y="2664619"/>
            <a:ext cx="28575" cy="514350"/>
          </a:xfrm>
          <a:prstGeom prst="rect">
            <a:avLst/>
          </a:prstGeom>
          <a:solidFill>
            <a:srgbClr val="64FFDA"/>
          </a:solidFill>
          <a:ln/>
        </p:spPr>
      </p:sp>
      <p:sp>
        <p:nvSpPr>
          <p:cNvPr id="16" name="Text 12"/>
          <p:cNvSpPr/>
          <p:nvPr/>
        </p:nvSpPr>
        <p:spPr>
          <a:xfrm>
            <a:off x="1025128" y="2801773"/>
            <a:ext cx="6488311" cy="240013"/>
          </a:xfrm>
          <a:prstGeom prst="rect">
            <a:avLst/>
          </a:prstGeom>
          <a:noFill/>
          <a:ln/>
        </p:spPr>
        <p:txBody>
          <a:bodyPr wrap="none" lIns="0" tIns="0" rIns="0" bIns="0" rtlCol="0" anchor="t">
            <a:spAutoFit/>
          </a:bodyPr>
          <a:lstStyle/>
          <a:p>
            <a:pPr algn="l" indent="0" marL="0">
              <a:lnSpc>
                <a:spcPct val="112000"/>
              </a:lnSpc>
              <a:buNone/>
            </a:pPr>
            <a:r>
              <a:rPr lang="en-US" sz="1250" dirty="0">
                <a:solidFill>
                  <a:srgbClr val="E6F1FF"/>
                </a:solidFill>
                <a:latin typeface="Inter" pitchFamily="34" charset="0"/>
                <a:ea typeface="Inter" pitchFamily="34" charset="-122"/>
                <a:cs typeface="Inter" pitchFamily="34" charset="-120"/>
              </a:rPr>
              <a:t>Established a scalable foundation for </a:t>
            </a:r>
            <a:r>
              <a:rPr lang="en-US" sz="1200" b="1" dirty="0">
                <a:solidFill>
                  <a:srgbClr val="E6F1FF"/>
                </a:solidFill>
                <a:latin typeface="Inter" pitchFamily="34" charset="0"/>
                <a:ea typeface="Inter" pitchFamily="34" charset="-122"/>
                <a:cs typeface="Inter" pitchFamily="34" charset="-120"/>
              </a:rPr>
              <a:t>future smart home ecosystem</a:t>
            </a:r>
            <a:r>
              <a:rPr lang="en-US" sz="1250" dirty="0">
                <a:solidFill>
                  <a:srgbClr val="E6F1FF"/>
                </a:solidFill>
                <a:latin typeface="Inter" pitchFamily="34" charset="0"/>
                <a:ea typeface="Inter" pitchFamily="34" charset="-122"/>
                <a:cs typeface="Inter" pitchFamily="34" charset="-120"/>
              </a:rPr>
              <a:t> expansions.</a:t>
            </a:r>
            <a:endParaRPr lang="en-US" sz="1250" dirty="0"/>
          </a:p>
        </p:txBody>
      </p:sp>
      <p:sp>
        <p:nvSpPr>
          <p:cNvPr id="17" name="Shape 13"/>
          <p:cNvSpPr/>
          <p:nvPr/>
        </p:nvSpPr>
        <p:spPr>
          <a:xfrm>
            <a:off x="64294" y="4507706"/>
            <a:ext cx="9129713" cy="685800"/>
          </a:xfrm>
          <a:prstGeom prst="rect">
            <a:avLst/>
          </a:prstGeom>
          <a:solidFill>
            <a:srgbClr val="172A45"/>
          </a:solidFill>
          <a:ln/>
        </p:spPr>
      </p:sp>
      <p:sp>
        <p:nvSpPr>
          <p:cNvPr id="18" name="Shape 14"/>
          <p:cNvSpPr/>
          <p:nvPr/>
        </p:nvSpPr>
        <p:spPr>
          <a:xfrm>
            <a:off x="64294" y="4507706"/>
            <a:ext cx="9129713" cy="14288"/>
          </a:xfrm>
          <a:prstGeom prst="rect">
            <a:avLst/>
          </a:prstGeom>
          <a:solidFill>
            <a:srgbClr val="64FFDA"/>
          </a:solidFill>
          <a:ln/>
        </p:spPr>
      </p:sp>
      <p:sp>
        <p:nvSpPr>
          <p:cNvPr id="19" name="Text 15"/>
          <p:cNvSpPr/>
          <p:nvPr/>
        </p:nvSpPr>
        <p:spPr>
          <a:xfrm>
            <a:off x="1481435" y="4650581"/>
            <a:ext cx="6866930" cy="400050"/>
          </a:xfrm>
          <a:prstGeom prst="rect">
            <a:avLst/>
          </a:prstGeom>
          <a:noFill/>
          <a:ln/>
        </p:spPr>
        <p:txBody>
          <a:bodyPr wrap="square" lIns="0" tIns="0" rIns="0" bIns="0" rtlCol="0" anchor="t">
            <a:spAutoFit/>
          </a:bodyPr>
          <a:lstStyle/>
          <a:p>
            <a:pPr algn="l" indent="0" marL="0">
              <a:buNone/>
            </a:pPr>
            <a:r>
              <a:rPr lang="en-US" sz="2100" b="1" spc="3" kern="0" dirty="0">
                <a:solidFill>
                  <a:srgbClr val="64FFDA"/>
                </a:solidFill>
                <a:latin typeface="Playfair Display Bold" pitchFamily="34" charset="0"/>
                <a:ea typeface="Playfair Display Bold" pitchFamily="34" charset="-122"/>
                <a:cs typeface="Playfair Display Bold" pitchFamily="34" charset="-120"/>
              </a:rPr>
              <a:t>SMART HOMES FOR A SMARTER FUTURE</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2570857" y="1541794"/>
            <a:ext cx="4116586" cy="685800"/>
          </a:xfrm>
          <a:prstGeom prst="rect">
            <a:avLst/>
          </a:prstGeom>
          <a:noFill/>
          <a:ln/>
        </p:spPr>
        <p:txBody>
          <a:bodyPr wrap="square" lIns="0" tIns="0" rIns="0" bIns="0" rtlCol="0" anchor="t">
            <a:spAutoFit/>
          </a:bodyPr>
          <a:lstStyle/>
          <a:p>
            <a:pPr algn="ctr" indent="0" marL="0">
              <a:buNone/>
            </a:pPr>
            <a:r>
              <a:rPr lang="en-US" sz="3750" b="1" dirty="0">
                <a:solidFill>
                  <a:srgbClr val="64FFDA"/>
                </a:solidFill>
                <a:latin typeface="Playfair Display Bold" pitchFamily="34" charset="0"/>
                <a:ea typeface="Playfair Display Bold" pitchFamily="34" charset="-122"/>
                <a:cs typeface="Playfair Display Bold" pitchFamily="34" charset="-120"/>
              </a:rPr>
              <a:t>Any Questions?</a:t>
            </a:r>
            <a:endParaRPr lang="en-US" sz="3750" dirty="0"/>
          </a:p>
        </p:txBody>
      </p:sp>
      <p:sp>
        <p:nvSpPr>
          <p:cNvPr id="5" name="Text 1"/>
          <p:cNvSpPr/>
          <p:nvPr/>
        </p:nvSpPr>
        <p:spPr>
          <a:xfrm>
            <a:off x="2570857" y="2456194"/>
            <a:ext cx="4116586" cy="291108"/>
          </a:xfrm>
          <a:prstGeom prst="rect">
            <a:avLst/>
          </a:prstGeom>
          <a:noFill/>
          <a:ln/>
        </p:spPr>
        <p:txBody>
          <a:bodyPr wrap="square" lIns="0" tIns="0" rIns="0" bIns="0" rtlCol="0" anchor="t">
            <a:spAutoFit/>
          </a:bodyPr>
          <a:lstStyle/>
          <a:p>
            <a:pPr algn="ctr" indent="0" marL="0">
              <a:buNone/>
            </a:pPr>
            <a:r>
              <a:rPr lang="en-US" sz="1700" spc="3" kern="0" dirty="0">
                <a:solidFill>
                  <a:srgbClr val="E6F1FF"/>
                </a:solidFill>
                <a:latin typeface="Space Grotesk Medium" pitchFamily="34" charset="0"/>
                <a:ea typeface="Space Grotesk Medium" pitchFamily="34" charset="-122"/>
                <a:cs typeface="Space Grotesk Medium" pitchFamily="34" charset="-120"/>
              </a:rPr>
              <a:t>DEMONSTRATION &amp; DISCUSSION</a:t>
            </a:r>
            <a:endParaRPr lang="en-US" sz="1700" dirty="0"/>
          </a:p>
        </p:txBody>
      </p:sp>
      <p:sp>
        <p:nvSpPr>
          <p:cNvPr id="6" name="Shape 2"/>
          <p:cNvSpPr/>
          <p:nvPr/>
        </p:nvSpPr>
        <p:spPr>
          <a:xfrm>
            <a:off x="1428750" y="3033052"/>
            <a:ext cx="6400800" cy="1027556"/>
          </a:xfrm>
          <a:prstGeom prst="rect">
            <a:avLst/>
          </a:prstGeom>
          <a:solidFill>
            <a:srgbClr val="172A45"/>
          </a:solidFill>
          <a:ln/>
        </p:spPr>
      </p:sp>
      <p:sp>
        <p:nvSpPr>
          <p:cNvPr id="7" name="Shape 3"/>
          <p:cNvSpPr/>
          <p:nvPr/>
        </p:nvSpPr>
        <p:spPr>
          <a:xfrm>
            <a:off x="1428750" y="3033052"/>
            <a:ext cx="6400800" cy="28575"/>
          </a:xfrm>
          <a:prstGeom prst="rect">
            <a:avLst/>
          </a:prstGeom>
          <a:solidFill>
            <a:srgbClr val="64FFDA"/>
          </a:solidFill>
          <a:ln/>
        </p:spPr>
      </p:sp>
      <p:sp>
        <p:nvSpPr>
          <p:cNvPr id="8" name="Text 4"/>
          <p:cNvSpPr/>
          <p:nvPr/>
        </p:nvSpPr>
        <p:spPr>
          <a:xfrm>
            <a:off x="1771650" y="3233077"/>
            <a:ext cx="5715000" cy="457200"/>
          </a:xfrm>
          <a:prstGeom prst="rect">
            <a:avLst/>
          </a:prstGeom>
          <a:noFill/>
          <a:ln/>
        </p:spPr>
        <p:txBody>
          <a:bodyPr wrap="square" lIns="0" tIns="0" rIns="0" bIns="0" rtlCol="0" anchor="t">
            <a:spAutoFit/>
          </a:bodyPr>
          <a:lstStyle/>
          <a:p>
            <a:pPr algn="ctr" indent="0" marL="0">
              <a:buNone/>
            </a:pPr>
            <a:r>
              <a:rPr lang="en-US" sz="2450" b="1" dirty="0">
                <a:solidFill>
                  <a:srgbClr val="FFFFFF"/>
                </a:solidFill>
                <a:latin typeface="Playfair Display Bold" pitchFamily="34" charset="0"/>
                <a:ea typeface="Playfair Display Bold" pitchFamily="34" charset="-122"/>
                <a:cs typeface="Playfair Display Bold" pitchFamily="34" charset="-120"/>
              </a:rPr>
              <a:t>Thank You for Your Attention!</a:t>
            </a:r>
            <a:endParaRPr lang="en-US" sz="2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2026-06-14T10:02:12Z</dcterms:created>
  <dcterms:modified xsi:type="dcterms:W3CDTF">2026-06-14T10:02:12Z</dcterms:modified>
</cp:coreProperties>
</file>